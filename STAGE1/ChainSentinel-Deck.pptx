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93B"/>
                </a:solidFill>
                <a:latin typeface="Arial"/>
              </a:defRPr>
            </a:pPr>
            <a:r>
              <a:rPr sz="1200" b="0" i="0" u="none" strike="noStrike">
                <a:solidFill>
                  <a:srgbClr val="1E293B"/>
                </a:solidFill>
                <a:latin typeface="Arial"/>
              </a:rPr>
              <a:t>Rebar lead time — quantile forecast (days)</a:t>
            </a:r>
          </a:p>
        </c:rich>
      </c:tx>
      <c:layout/>
      <c:overlay val="0"/>
    </c:title>
    <c:autoTitleDeleted val="0"/>
    <c:plotArea>
      <c:layout/>
      <c:lineChart>
        <c:varyColors val="0"/>
        <c:ser>
          <c:idx val="0"/>
          <c:order val="0"/>
          <c:tx>
            <c:strRef>
              <c:f>Sheet1!$B$1</c:f>
              <c:strCache>
                <c:ptCount val="1"/>
                <c:pt idx="0">
                  <c:v>P90 (late case)</c:v>
                </c:pt>
              </c:strCache>
            </c:strRef>
          </c:tx>
          <c:spPr>
            <a:solidFill>
              <a:srgbClr val="DC2626"/>
            </a:solidFill>
            <a:ln w="31750" cap="flat">
              <a:solidFill>
                <a:srgbClr val="DC26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C2626"/>
              </a:solidFill>
              <a:ln w="9525" cap="flat">
                <a:solidFill>
                  <a:srgbClr val="DC2626"/>
                </a:solidFill>
                <a:prstDash val="solid"/>
                <a:round/>
              </a:ln>
              <a:effectLst/>
            </c:spPr>
          </c:marker>
          <c:cat>
            <c:multiLvlStrRef>
              <c:f>Sheet1!$A$2:$A$7</c:f>
              <c:multiLvlStrCache>
                <c:ptCount val="6"/>
                <c:lvl>
                  <c:pt idx="0">
                    <c:v>W1</c:v>
                  </c:pt>
                  <c:pt idx="1">
                    <c:v>W2</c:v>
                  </c:pt>
                  <c:pt idx="2">
                    <c:v>W3</c:v>
                  </c:pt>
                  <c:pt idx="3">
                    <c:v>W4</c:v>
                  </c:pt>
                  <c:pt idx="4">
                    <c:v>W5</c:v>
                  </c:pt>
                  <c:pt idx="5">
                    <c:v>W6</c:v>
                  </c:pt>
                </c:lvl>
              </c:multiLvlStrCache>
            </c:multiLvlStrRef>
          </c:cat>
          <c:val>
            <c:numRef>
              <c:f>Sheet1!$B$2:$B$7</c:f>
              <c:numCache>
                <c:formatCode>General</c:formatCode>
                <c:ptCount val="6"/>
                <c:pt idx="0">
                  <c:v>16</c:v>
                </c:pt>
                <c:pt idx="1">
                  <c:v>17</c:v>
                </c:pt>
                <c:pt idx="2">
                  <c:v>19</c:v>
                </c:pt>
                <c:pt idx="3">
                  <c:v>21</c:v>
                </c:pt>
                <c:pt idx="4">
                  <c:v>24</c:v>
                </c:pt>
                <c:pt idx="5">
                  <c:v>27</c:v>
                </c:pt>
              </c:numCache>
            </c:numRef>
          </c:val>
          <c:smooth val="1"/>
        </c:ser>
        <c:ser>
          <c:idx val="1"/>
          <c:order val="1"/>
          <c:tx>
            <c:strRef>
              <c:f>Sheet1!$C$1</c:f>
              <c:strCache>
                <c:ptCount val="1"/>
                <c:pt idx="0">
                  <c:v>P50 (expected)</c:v>
                </c:pt>
              </c:strCache>
            </c:strRef>
          </c:tx>
          <c:spPr>
            <a:solidFill>
              <a:srgbClr val="D97706"/>
            </a:solidFill>
            <a:ln w="31750" cap="flat">
              <a:solidFill>
                <a:srgbClr val="D9770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7706"/>
              </a:solidFill>
              <a:ln w="9525" cap="flat">
                <a:solidFill>
                  <a:srgbClr val="D97706"/>
                </a:solidFill>
                <a:prstDash val="solid"/>
                <a:round/>
              </a:ln>
              <a:effectLst/>
            </c:spPr>
          </c:marker>
          <c:cat>
            <c:multiLvlStrRef>
              <c:f>Sheet1!$A$2:$A$7</c:f>
              <c:multiLvlStrCache>
                <c:ptCount val="6"/>
                <c:lvl>
                  <c:pt idx="0">
                    <c:v>W1</c:v>
                  </c:pt>
                  <c:pt idx="1">
                    <c:v>W2</c:v>
                  </c:pt>
                  <c:pt idx="2">
                    <c:v>W3</c:v>
                  </c:pt>
                  <c:pt idx="3">
                    <c:v>W4</c:v>
                  </c:pt>
                  <c:pt idx="4">
                    <c:v>W5</c:v>
                  </c:pt>
                  <c:pt idx="5">
                    <c:v>W6</c:v>
                  </c:pt>
                </c:lvl>
              </c:multiLvlStrCache>
            </c:multiLvlStrRef>
          </c:cat>
          <c:val>
            <c:numRef>
              <c:f>Sheet1!$C$2:$C$7</c:f>
              <c:numCache>
                <c:formatCode>General</c:formatCode>
                <c:ptCount val="6"/>
                <c:pt idx="0">
                  <c:v>15</c:v>
                </c:pt>
                <c:pt idx="1">
                  <c:v>15.5</c:v>
                </c:pt>
                <c:pt idx="2">
                  <c:v>16</c:v>
                </c:pt>
                <c:pt idx="3">
                  <c:v>17</c:v>
                </c:pt>
                <c:pt idx="4">
                  <c:v>18</c:v>
                </c:pt>
                <c:pt idx="5">
                  <c:v>19</c:v>
                </c:pt>
              </c:numCache>
            </c:numRef>
          </c:val>
          <c:smooth val="1"/>
        </c:ser>
        <c:ser>
          <c:idx val="2"/>
          <c:order val="2"/>
          <c:tx>
            <c:strRef>
              <c:f>Sheet1!$D$1</c:f>
              <c:strCache>
                <c:ptCount val="1"/>
                <c:pt idx="0">
                  <c:v>P10 (early case)</c:v>
                </c:pt>
              </c:strCache>
            </c:strRef>
          </c:tx>
          <c:spPr>
            <a:solidFill>
              <a:srgbClr val="94A3B8"/>
            </a:solidFill>
            <a:ln w="31750" cap="flat">
              <a:solidFill>
                <a:srgbClr val="94A3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4A3B8"/>
              </a:solidFill>
              <a:ln w="9525" cap="flat">
                <a:solidFill>
                  <a:srgbClr val="94A3B8"/>
                </a:solidFill>
                <a:prstDash val="solid"/>
                <a:round/>
              </a:ln>
              <a:effectLst/>
            </c:spPr>
          </c:marker>
          <c:cat>
            <c:multiLvlStrRef>
              <c:f>Sheet1!$A$2:$A$7</c:f>
              <c:multiLvlStrCache>
                <c:ptCount val="6"/>
                <c:lvl>
                  <c:pt idx="0">
                    <c:v>W1</c:v>
                  </c:pt>
                  <c:pt idx="1">
                    <c:v>W2</c:v>
                  </c:pt>
                  <c:pt idx="2">
                    <c:v>W3</c:v>
                  </c:pt>
                  <c:pt idx="3">
                    <c:v>W4</c:v>
                  </c:pt>
                  <c:pt idx="4">
                    <c:v>W5</c:v>
                  </c:pt>
                  <c:pt idx="5">
                    <c:v>W6</c:v>
                  </c:pt>
                </c:lvl>
              </c:multiLvlStrCache>
            </c:multiLvlStrRef>
          </c:cat>
          <c:val>
            <c:numRef>
              <c:f>Sheet1!$D$2:$D$7</c:f>
              <c:numCache>
                <c:formatCode>General</c:formatCode>
                <c:ptCount val="6"/>
                <c:pt idx="0">
                  <c:v>14</c:v>
                </c:pt>
                <c:pt idx="1">
                  <c:v>14</c:v>
                </c:pt>
                <c:pt idx="2">
                  <c:v>14.5</c:v>
                </c:pt>
                <c:pt idx="3">
                  <c:v>15</c:v>
                </c:pt>
                <c:pt idx="4">
                  <c:v>15</c:v>
                </c:pt>
                <c:pt idx="5">
                  <c:v>15.5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a data-center build, 40 tons of rebar is due in 12 days. Today, the site team will find out it's late when the truck doesn't show up.' Then introduce ChainSentinel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three numbers slowly: 98, 70, 30. Problem, cause, addressable headroom.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shipment, two timelines. This contrast IS the pitch — everything after this slide explains how the second timeline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once with the rebar example. Emphasize: the agent never acts outward without human approval, and step 6 is what no one else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line: 'we don't ask the forecaster to see shocks it provably can't — we handle shocks explicitly.' This honesty is a feature, judges with ML background will catch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structured workflows by design — SupChain-Bench (2026) shows LLM agents fail at long-horizon orchestration, so every workflow is 5 steps or fewer with constrained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the Originality criterion. Read the recall card out loud — it makes 'memory' concrete in 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Feb 2026 paper explicitly — 'this design pattern was validated in research published five months ago.' Full citations with links are in the written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criterion lives here. The fallback line preempts the 'what if X breaks' question before judges ask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team-to-architecture mapping: each subsystem has an owner. End with the tagline.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B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2920" y="457200"/>
            <a:ext cx="566928" cy="566928"/>
          </a:xfrm>
          <a:prstGeom prst="rect">
            <a:avLst/>
          </a:prstGeom>
        </p:spPr>
      </p:pic>
      <p:sp>
        <p:nvSpPr>
          <p:cNvPr id="3" name="Text 0"/>
          <p:cNvSpPr/>
          <p:nvPr/>
        </p:nvSpPr>
        <p:spPr>
          <a:xfrm>
            <a:off x="457200" y="1325880"/>
            <a:ext cx="8229600" cy="8686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ChainSentinel</a:t>
            </a:r>
            <a:endParaRPr lang="en-US" sz="5400" dirty="0"/>
          </a:p>
        </p:txBody>
      </p:sp>
      <p:sp>
        <p:nvSpPr>
          <p:cNvPr id="4" name="Text 1"/>
          <p:cNvSpPr/>
          <p:nvPr/>
        </p:nvSpPr>
        <p:spPr>
          <a:xfrm>
            <a:off x="457200" y="2240280"/>
            <a:ext cx="7680960" cy="777240"/>
          </a:xfrm>
          <a:prstGeom prst="rect">
            <a:avLst/>
          </a:prstGeom>
          <a:noFill/>
          <a:ln/>
        </p:spPr>
        <p:txBody>
          <a:bodyPr wrap="square" lIns="0" tIns="0" rIns="0" bIns="0" rtlCol="0" anchor="ctr"/>
          <a:lstStyle/>
          <a:p>
            <a:pPr indent="0" marL="0">
              <a:buNone/>
            </a:pPr>
            <a:r>
              <a:rPr lang="en-US" sz="2000" dirty="0">
                <a:solidFill>
                  <a:srgbClr val="CBD5E1"/>
                </a:solidFill>
                <a:latin typeface="Arial" pitchFamily="34" charset="0"/>
                <a:ea typeface="Arial" pitchFamily="34" charset="-122"/>
                <a:cs typeface="Arial" pitchFamily="34" charset="-120"/>
              </a:rPr>
              <a:t>The supply-chain agent that predicts the miss — and acts before the truck fails to arrive.</a:t>
            </a:r>
            <a:endParaRPr lang="en-US" sz="2000" dirty="0"/>
          </a:p>
        </p:txBody>
      </p:sp>
      <p:sp>
        <p:nvSpPr>
          <p:cNvPr id="5" name="Shape 2"/>
          <p:cNvSpPr/>
          <p:nvPr/>
        </p:nvSpPr>
        <p:spPr>
          <a:xfrm>
            <a:off x="457200" y="3246120"/>
            <a:ext cx="2788920" cy="457200"/>
          </a:xfrm>
          <a:prstGeom prst="roundRect">
            <a:avLst>
              <a:gd name="adj" fmla="val 16000"/>
            </a:avLst>
          </a:prstGeom>
          <a:solidFill>
            <a:srgbClr val="D97706"/>
          </a:solidFill>
          <a:ln/>
        </p:spPr>
      </p:sp>
      <p:sp>
        <p:nvSpPr>
          <p:cNvPr id="6" name="Text 3"/>
          <p:cNvSpPr/>
          <p:nvPr/>
        </p:nvSpPr>
        <p:spPr>
          <a:xfrm>
            <a:off x="457200" y="3246120"/>
            <a:ext cx="2788920" cy="457200"/>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Arial" pitchFamily="34" charset="0"/>
                <a:ea typeface="Arial" pitchFamily="34" charset="-122"/>
                <a:cs typeface="Arial" pitchFamily="34" charset="-120"/>
              </a:rPr>
              <a:t>TRACK: SUPPLY CHAIN</a:t>
            </a:r>
            <a:endParaRPr lang="en-US" sz="1500" dirty="0"/>
          </a:p>
        </p:txBody>
      </p:sp>
      <p:sp>
        <p:nvSpPr>
          <p:cNvPr id="7" name="Text 4"/>
          <p:cNvSpPr/>
          <p:nvPr/>
        </p:nvSpPr>
        <p:spPr>
          <a:xfrm>
            <a:off x="457200" y="4160520"/>
            <a:ext cx="8229600" cy="685800"/>
          </a:xfrm>
          <a:prstGeom prst="rect">
            <a:avLst/>
          </a:prstGeom>
          <a:noFill/>
          <a:ln/>
        </p:spPr>
        <p:txBody>
          <a:bodyPr wrap="square" lIns="0" tIns="0" rIns="0" bIns="0" rtlCol="0" anchor="ctr"/>
          <a:lstStyle/>
          <a:p>
            <a:pPr indent="0" marL="0">
              <a:buNone/>
            </a:pPr>
            <a:r>
              <a:rPr lang="en-US" sz="1300" b="1" dirty="0">
                <a:solidFill>
                  <a:srgbClr val="94A3B8"/>
                </a:solidFill>
                <a:latin typeface="Arial" pitchFamily="34" charset="0"/>
                <a:ea typeface="Arial" pitchFamily="34" charset="-122"/>
                <a:cs typeface="Arial" pitchFamily="34" charset="-120"/>
              </a:rPr>
              <a:t>Kaya AI IIT India Hackathon 2026</a:t>
            </a:r>
            <a:endParaRPr lang="en-US" sz="1300" dirty="0"/>
          </a:p>
          <a:p>
            <a:pPr indent="0" marL="0">
              <a:buNone/>
            </a:pPr>
            <a:r>
              <a:rPr lang="en-US" sz="1300" dirty="0">
                <a:solidFill>
                  <a:srgbClr val="94A3B8"/>
                </a:solidFill>
                <a:latin typeface="Arial" pitchFamily="34" charset="0"/>
                <a:ea typeface="Arial" pitchFamily="34" charset="-122"/>
                <a:cs typeface="Arial" pitchFamily="34" charset="-120"/>
              </a:rPr>
              <a:t>Team Perceptron (IIT Madras) — Aman Kumar Maurya · Sai Nikhil Vukka · Abhishek Kumar · Aditya Yash Raj</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Supply chains make construction late</a:t>
            </a:r>
            <a:endParaRPr lang="en-US" sz="30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The data to predict a missed delivery already exists. It is never turned into a probability — or an action.</a:t>
            </a:r>
            <a:endParaRPr lang="en-US" sz="1500" dirty="0"/>
          </a:p>
        </p:txBody>
      </p:sp>
      <p:sp>
        <p:nvSpPr>
          <p:cNvPr id="4" name="Shape 2"/>
          <p:cNvSpPr/>
          <p:nvPr/>
        </p:nvSpPr>
        <p:spPr>
          <a:xfrm>
            <a:off x="457200" y="1508760"/>
            <a:ext cx="2651760" cy="2286000"/>
          </a:xfrm>
          <a:prstGeom prst="roundRect">
            <a:avLst>
              <a:gd name="adj" fmla="val 3600"/>
            </a:avLst>
          </a:prstGeom>
          <a:solidFill>
            <a:srgbClr val="F5F7FA"/>
          </a:solidFill>
          <a:ln/>
          <a:effectLst>
            <a:outerShdw sx="100000" sy="100000" kx="0" ky="0" algn="bl" rotWithShape="0" blurRad="88900" dist="25400" dir="2700000">
              <a:srgbClr val="000000">
                <a:alpha val="13000"/>
              </a:srgbClr>
            </a:outerShdw>
          </a:effectLst>
        </p:spPr>
      </p:sp>
      <p:sp>
        <p:nvSpPr>
          <p:cNvPr id="5" name="Text 3"/>
          <p:cNvSpPr/>
          <p:nvPr/>
        </p:nvSpPr>
        <p:spPr>
          <a:xfrm>
            <a:off x="640080" y="1691640"/>
            <a:ext cx="2286000" cy="868680"/>
          </a:xfrm>
          <a:prstGeom prst="rect">
            <a:avLst/>
          </a:prstGeom>
          <a:noFill/>
          <a:ln/>
        </p:spPr>
        <p:txBody>
          <a:bodyPr wrap="square" lIns="0" tIns="0" rIns="0" bIns="0" rtlCol="0" anchor="ctr"/>
          <a:lstStyle/>
          <a:p>
            <a:pPr indent="0" marL="0">
              <a:buNone/>
            </a:pPr>
            <a:r>
              <a:rPr lang="en-US" sz="6000" b="1" dirty="0">
                <a:solidFill>
                  <a:srgbClr val="B45309"/>
                </a:solidFill>
                <a:latin typeface="Arial" pitchFamily="34" charset="0"/>
                <a:ea typeface="Arial" pitchFamily="34" charset="-122"/>
                <a:cs typeface="Arial" pitchFamily="34" charset="-120"/>
              </a:rPr>
              <a:t>98%</a:t>
            </a:r>
            <a:endParaRPr lang="en-US" sz="6000" dirty="0"/>
          </a:p>
        </p:txBody>
      </p:sp>
      <p:sp>
        <p:nvSpPr>
          <p:cNvPr id="6" name="Text 4"/>
          <p:cNvSpPr/>
          <p:nvPr/>
        </p:nvSpPr>
        <p:spPr>
          <a:xfrm>
            <a:off x="640080" y="2606040"/>
            <a:ext cx="2286000" cy="868680"/>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of projects face delays; the average runs 37% longer than planned</a:t>
            </a:r>
            <a:endParaRPr lang="en-US" sz="1350" dirty="0"/>
          </a:p>
        </p:txBody>
      </p:sp>
      <p:sp>
        <p:nvSpPr>
          <p:cNvPr id="7" name="Text 5"/>
          <p:cNvSpPr/>
          <p:nvPr/>
        </p:nvSpPr>
        <p:spPr>
          <a:xfrm>
            <a:off x="640080" y="3474720"/>
            <a:ext cx="2286000" cy="274320"/>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Buildern, 2026</a:t>
            </a:r>
            <a:endParaRPr lang="en-US" sz="1000" dirty="0"/>
          </a:p>
        </p:txBody>
      </p:sp>
      <p:sp>
        <p:nvSpPr>
          <p:cNvPr id="8" name="Shape 6"/>
          <p:cNvSpPr/>
          <p:nvPr/>
        </p:nvSpPr>
        <p:spPr>
          <a:xfrm>
            <a:off x="3319272" y="1508760"/>
            <a:ext cx="2651760" cy="2286000"/>
          </a:xfrm>
          <a:prstGeom prst="roundRect">
            <a:avLst>
              <a:gd name="adj" fmla="val 3600"/>
            </a:avLst>
          </a:prstGeom>
          <a:solidFill>
            <a:srgbClr val="F5F7FA"/>
          </a:solidFill>
          <a:ln/>
          <a:effectLst>
            <a:outerShdw sx="100000" sy="100000" kx="0" ky="0" algn="bl" rotWithShape="0" blurRad="88900" dist="25400" dir="2700000">
              <a:srgbClr val="000000">
                <a:alpha val="13000"/>
              </a:srgbClr>
            </a:outerShdw>
          </a:effectLst>
        </p:spPr>
      </p:sp>
      <p:sp>
        <p:nvSpPr>
          <p:cNvPr id="9" name="Text 7"/>
          <p:cNvSpPr/>
          <p:nvPr/>
        </p:nvSpPr>
        <p:spPr>
          <a:xfrm>
            <a:off x="3502152" y="1691640"/>
            <a:ext cx="2286000" cy="868680"/>
          </a:xfrm>
          <a:prstGeom prst="rect">
            <a:avLst/>
          </a:prstGeom>
          <a:noFill/>
          <a:ln/>
        </p:spPr>
        <p:txBody>
          <a:bodyPr wrap="square" lIns="0" tIns="0" rIns="0" bIns="0" rtlCol="0" anchor="ctr"/>
          <a:lstStyle/>
          <a:p>
            <a:pPr indent="0" marL="0">
              <a:buNone/>
            </a:pPr>
            <a:r>
              <a:rPr lang="en-US" sz="6000" b="1" dirty="0">
                <a:solidFill>
                  <a:srgbClr val="B45309"/>
                </a:solidFill>
                <a:latin typeface="Arial" pitchFamily="34" charset="0"/>
                <a:ea typeface="Arial" pitchFamily="34" charset="-122"/>
                <a:cs typeface="Arial" pitchFamily="34" charset="-120"/>
              </a:rPr>
              <a:t>70%</a:t>
            </a:r>
            <a:endParaRPr lang="en-US" sz="6000" dirty="0"/>
          </a:p>
        </p:txBody>
      </p:sp>
      <p:sp>
        <p:nvSpPr>
          <p:cNvPr id="10" name="Text 8"/>
          <p:cNvSpPr/>
          <p:nvPr/>
        </p:nvSpPr>
        <p:spPr>
          <a:xfrm>
            <a:off x="3502152" y="2606040"/>
            <a:ext cx="2286000" cy="868680"/>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of projects are impacted by supply chain disruption</a:t>
            </a:r>
            <a:endParaRPr lang="en-US" sz="1350" dirty="0"/>
          </a:p>
        </p:txBody>
      </p:sp>
      <p:sp>
        <p:nvSpPr>
          <p:cNvPr id="11" name="Text 9"/>
          <p:cNvSpPr/>
          <p:nvPr/>
        </p:nvSpPr>
        <p:spPr>
          <a:xfrm>
            <a:off x="3502152" y="3474720"/>
            <a:ext cx="2286000" cy="274320"/>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WSI, 2026</a:t>
            </a:r>
            <a:endParaRPr lang="en-US" sz="1000" dirty="0"/>
          </a:p>
        </p:txBody>
      </p:sp>
      <p:sp>
        <p:nvSpPr>
          <p:cNvPr id="12" name="Shape 10"/>
          <p:cNvSpPr/>
          <p:nvPr/>
        </p:nvSpPr>
        <p:spPr>
          <a:xfrm>
            <a:off x="6181344" y="1508760"/>
            <a:ext cx="2651760" cy="2286000"/>
          </a:xfrm>
          <a:prstGeom prst="roundRect">
            <a:avLst>
              <a:gd name="adj" fmla="val 3600"/>
            </a:avLst>
          </a:prstGeom>
          <a:solidFill>
            <a:srgbClr val="F5F7FA"/>
          </a:solidFill>
          <a:ln/>
          <a:effectLst>
            <a:outerShdw sx="100000" sy="100000" kx="0" ky="0" algn="bl" rotWithShape="0" blurRad="88900" dist="25400" dir="2700000">
              <a:srgbClr val="000000">
                <a:alpha val="13000"/>
              </a:srgbClr>
            </a:outerShdw>
          </a:effectLst>
        </p:spPr>
      </p:sp>
      <p:sp>
        <p:nvSpPr>
          <p:cNvPr id="13" name="Text 11"/>
          <p:cNvSpPr/>
          <p:nvPr/>
        </p:nvSpPr>
        <p:spPr>
          <a:xfrm>
            <a:off x="6364224" y="1691640"/>
            <a:ext cx="2286000" cy="868680"/>
          </a:xfrm>
          <a:prstGeom prst="rect">
            <a:avLst/>
          </a:prstGeom>
          <a:noFill/>
          <a:ln/>
        </p:spPr>
        <p:txBody>
          <a:bodyPr wrap="square" lIns="0" tIns="0" rIns="0" bIns="0" rtlCol="0" anchor="ctr"/>
          <a:lstStyle/>
          <a:p>
            <a:pPr indent="0" marL="0">
              <a:buNone/>
            </a:pPr>
            <a:r>
              <a:rPr lang="en-US" sz="6000" b="1" dirty="0">
                <a:solidFill>
                  <a:srgbClr val="B45309"/>
                </a:solidFill>
                <a:latin typeface="Arial" pitchFamily="34" charset="0"/>
                <a:ea typeface="Arial" pitchFamily="34" charset="-122"/>
                <a:cs typeface="Arial" pitchFamily="34" charset="-120"/>
              </a:rPr>
              <a:t>30%</a:t>
            </a:r>
            <a:endParaRPr lang="en-US" sz="6000" dirty="0"/>
          </a:p>
        </p:txBody>
      </p:sp>
      <p:sp>
        <p:nvSpPr>
          <p:cNvPr id="14" name="Text 12"/>
          <p:cNvSpPr/>
          <p:nvPr/>
        </p:nvSpPr>
        <p:spPr>
          <a:xfrm>
            <a:off x="6364224" y="2606040"/>
            <a:ext cx="2286000" cy="868680"/>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of performance is recoverable through better logistics decisions</a:t>
            </a:r>
            <a:endParaRPr lang="en-US" sz="1350" dirty="0"/>
          </a:p>
        </p:txBody>
      </p:sp>
      <p:sp>
        <p:nvSpPr>
          <p:cNvPr id="15" name="Text 13"/>
          <p:cNvSpPr/>
          <p:nvPr/>
        </p:nvSpPr>
        <p:spPr>
          <a:xfrm>
            <a:off x="6364224" y="3474720"/>
            <a:ext cx="2286000" cy="274320"/>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Trangistics, 2025</a:t>
            </a:r>
            <a:endParaRPr lang="en-US" sz="1000" dirty="0"/>
          </a:p>
        </p:txBody>
      </p:sp>
      <p:sp>
        <p:nvSpPr>
          <p:cNvPr id="16" name="Text 14"/>
          <p:cNvSpPr/>
          <p:nvPr/>
        </p:nvSpPr>
        <p:spPr>
          <a:xfrm>
            <a:off x="457200" y="4114800"/>
            <a:ext cx="8229600" cy="64008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Material supply shortage and supply-chain disruption are the strongest explanatory factors behind cost overruns </a:t>
            </a:r>
            <a:pPr indent="0" marL="0">
              <a:buNone/>
            </a:pPr>
            <a:r>
              <a:rPr lang="en-US" sz="1400" i="1" dirty="0">
                <a:solidFill>
                  <a:srgbClr val="64748B"/>
                </a:solidFill>
                <a:latin typeface="Arial" pitchFamily="34" charset="0"/>
                <a:ea typeface="Arial" pitchFamily="34" charset="-122"/>
                <a:cs typeface="Arial" pitchFamily="34" charset="-120"/>
              </a:rPr>
              <a:t>(structural equation modeling, MDPI Sustainability 2025).</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Two timelines, one rebar shipment</a:t>
            </a:r>
            <a:endParaRPr lang="en-US" sz="3000" dirty="0"/>
          </a:p>
        </p:txBody>
      </p:sp>
      <p:sp>
        <p:nvSpPr>
          <p:cNvPr id="3" name="Shape 1"/>
          <p:cNvSpPr/>
          <p:nvPr/>
        </p:nvSpPr>
        <p:spPr>
          <a:xfrm>
            <a:off x="457200" y="1051560"/>
            <a:ext cx="8229600" cy="1554480"/>
          </a:xfrm>
          <a:prstGeom prst="roundRect">
            <a:avLst>
              <a:gd name="adj" fmla="val 5294"/>
            </a:avLst>
          </a:prstGeom>
          <a:solidFill>
            <a:srgbClr val="F5F7FA"/>
          </a:solidFill>
          <a:ln/>
          <a:effectLst>
            <a:outerShdw sx="100000" sy="100000" kx="0" ky="0" algn="bl" rotWithShape="0" blurRad="88900" dist="25400" dir="2700000">
              <a:srgbClr val="000000">
                <a:alpha val="13000"/>
              </a:srgbClr>
            </a:outerShdw>
          </a:effectLst>
        </p:spPr>
      </p:sp>
      <p:sp>
        <p:nvSpPr>
          <p:cNvPr id="4" name="Text 2"/>
          <p:cNvSpPr/>
          <p:nvPr/>
        </p:nvSpPr>
        <p:spPr>
          <a:xfrm>
            <a:off x="685800" y="1207008"/>
            <a:ext cx="1828800" cy="292608"/>
          </a:xfrm>
          <a:prstGeom prst="rect">
            <a:avLst/>
          </a:prstGeom>
          <a:noFill/>
          <a:ln/>
        </p:spPr>
        <p:txBody>
          <a:bodyPr wrap="square" lIns="0" tIns="0" rIns="0" bIns="0" rtlCol="0" anchor="ctr"/>
          <a:lstStyle/>
          <a:p>
            <a:pPr indent="0" marL="0">
              <a:buNone/>
            </a:pPr>
            <a:r>
              <a:rPr lang="en-US" sz="1300" b="1" spc="200" kern="0" dirty="0">
                <a:solidFill>
                  <a:srgbClr val="64748B"/>
                </a:solidFill>
                <a:latin typeface="Arial" pitchFamily="34" charset="0"/>
                <a:ea typeface="Arial" pitchFamily="34" charset="-122"/>
                <a:cs typeface="Arial" pitchFamily="34" charset="-120"/>
              </a:rPr>
              <a:t>TODAY</a:t>
            </a:r>
            <a:endParaRPr lang="en-US" sz="1300" dirty="0"/>
          </a:p>
        </p:txBody>
      </p:sp>
      <p:sp>
        <p:nvSpPr>
          <p:cNvPr id="5" name="Text 3"/>
          <p:cNvSpPr/>
          <p:nvPr/>
        </p:nvSpPr>
        <p:spPr>
          <a:xfrm>
            <a:off x="685800" y="1536192"/>
            <a:ext cx="2468880" cy="274320"/>
          </a:xfrm>
          <a:prstGeom prst="rect">
            <a:avLst/>
          </a:prstGeom>
          <a:noFill/>
          <a:ln/>
        </p:spPr>
        <p:txBody>
          <a:bodyPr wrap="square" lIns="0" tIns="0" rIns="0" bIns="0" rtlCol="0" anchor="ctr"/>
          <a:lstStyle/>
          <a:p>
            <a:pPr indent="0" marL="0">
              <a:buNone/>
            </a:pPr>
            <a:r>
              <a:rPr lang="en-US" sz="1300" b="1" dirty="0">
                <a:solidFill>
                  <a:srgbClr val="B45309"/>
                </a:solidFill>
                <a:latin typeface="Arial" pitchFamily="34" charset="0"/>
                <a:ea typeface="Arial" pitchFamily="34" charset="-122"/>
                <a:cs typeface="Arial" pitchFamily="34" charset="-120"/>
              </a:rPr>
              <a:t>Day 0</a:t>
            </a:r>
            <a:endParaRPr lang="en-US" sz="1300" dirty="0"/>
          </a:p>
        </p:txBody>
      </p:sp>
      <p:sp>
        <p:nvSpPr>
          <p:cNvPr id="6" name="Text 4"/>
          <p:cNvSpPr/>
          <p:nvPr/>
        </p:nvSpPr>
        <p:spPr>
          <a:xfrm>
            <a:off x="685800" y="1810512"/>
            <a:ext cx="2468880" cy="713232"/>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Vendor's ship date quietly slips. Signal exists in the PO trail — nobody sees it.</a:t>
            </a:r>
            <a:endParaRPr lang="en-US" sz="1150" dirty="0"/>
          </a:p>
        </p:txBody>
      </p:sp>
      <p:sp>
        <p:nvSpPr>
          <p:cNvPr id="7" name="Text 5"/>
          <p:cNvSpPr/>
          <p:nvPr/>
        </p:nvSpPr>
        <p:spPr>
          <a:xfrm>
            <a:off x="3383280" y="1536192"/>
            <a:ext cx="2468880" cy="274320"/>
          </a:xfrm>
          <a:prstGeom prst="rect">
            <a:avLst/>
          </a:prstGeom>
          <a:noFill/>
          <a:ln/>
        </p:spPr>
        <p:txBody>
          <a:bodyPr wrap="square" lIns="0" tIns="0" rIns="0" bIns="0" rtlCol="0" anchor="ctr"/>
          <a:lstStyle/>
          <a:p>
            <a:pPr indent="0" marL="0">
              <a:buNone/>
            </a:pPr>
            <a:r>
              <a:rPr lang="en-US" sz="1300" b="1" dirty="0">
                <a:solidFill>
                  <a:srgbClr val="B45309"/>
                </a:solidFill>
                <a:latin typeface="Arial" pitchFamily="34" charset="0"/>
                <a:ea typeface="Arial" pitchFamily="34" charset="-122"/>
                <a:cs typeface="Arial" pitchFamily="34" charset="-120"/>
              </a:rPr>
              <a:t>Day 12</a:t>
            </a:r>
            <a:endParaRPr lang="en-US" sz="1300" dirty="0"/>
          </a:p>
        </p:txBody>
      </p:sp>
      <p:sp>
        <p:nvSpPr>
          <p:cNvPr id="8" name="Text 6"/>
          <p:cNvSpPr/>
          <p:nvPr/>
        </p:nvSpPr>
        <p:spPr>
          <a:xfrm>
            <a:off x="3383280" y="1810512"/>
            <a:ext cx="2468880" cy="713232"/>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Truck doesn't arrive. Crews idle, crane rebooked, pour delayed.</a:t>
            </a:r>
            <a:endParaRPr lang="en-US" sz="1150" dirty="0"/>
          </a:p>
        </p:txBody>
      </p:sp>
      <p:sp>
        <p:nvSpPr>
          <p:cNvPr id="9" name="Text 7"/>
          <p:cNvSpPr/>
          <p:nvPr/>
        </p:nvSpPr>
        <p:spPr>
          <a:xfrm>
            <a:off x="6080760" y="1536192"/>
            <a:ext cx="2468880" cy="274320"/>
          </a:xfrm>
          <a:prstGeom prst="rect">
            <a:avLst/>
          </a:prstGeom>
          <a:noFill/>
          <a:ln/>
        </p:spPr>
        <p:txBody>
          <a:bodyPr wrap="square" lIns="0" tIns="0" rIns="0" bIns="0" rtlCol="0" anchor="ctr"/>
          <a:lstStyle/>
          <a:p>
            <a:pPr indent="0" marL="0">
              <a:buNone/>
            </a:pPr>
            <a:r>
              <a:rPr lang="en-US" sz="1300" b="1" dirty="0">
                <a:solidFill>
                  <a:srgbClr val="B45309"/>
                </a:solidFill>
                <a:latin typeface="Arial" pitchFamily="34" charset="0"/>
                <a:ea typeface="Arial" pitchFamily="34" charset="-122"/>
                <a:cs typeface="Arial" pitchFamily="34" charset="-120"/>
              </a:rPr>
              <a:t>Day 13+</a:t>
            </a:r>
            <a:endParaRPr lang="en-US" sz="1300" dirty="0"/>
          </a:p>
        </p:txBody>
      </p:sp>
      <p:sp>
        <p:nvSpPr>
          <p:cNvPr id="10" name="Text 8"/>
          <p:cNvSpPr/>
          <p:nvPr/>
        </p:nvSpPr>
        <p:spPr>
          <a:xfrm>
            <a:off x="6080760" y="1810512"/>
            <a:ext cx="2468880" cy="713232"/>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Penalty clauses, claims, and a dispute nobody can reconstruct.</a:t>
            </a:r>
            <a:endParaRPr lang="en-US" sz="1150" dirty="0"/>
          </a:p>
        </p:txBody>
      </p:sp>
      <p:sp>
        <p:nvSpPr>
          <p:cNvPr id="11" name="Shape 9"/>
          <p:cNvSpPr/>
          <p:nvPr/>
        </p:nvSpPr>
        <p:spPr>
          <a:xfrm>
            <a:off x="457200" y="2834640"/>
            <a:ext cx="8229600" cy="1874520"/>
          </a:xfrm>
          <a:prstGeom prst="roundRect">
            <a:avLst>
              <a:gd name="adj" fmla="val 4390"/>
            </a:avLst>
          </a:prstGeom>
          <a:solidFill>
            <a:srgbClr val="232B33"/>
          </a:solidFill>
          <a:ln/>
          <a:effectLst>
            <a:outerShdw sx="100000" sy="100000" kx="0" ky="0" algn="bl" rotWithShape="0" blurRad="88900" dist="25400" dir="2700000">
              <a:srgbClr val="000000">
                <a:alpha val="13000"/>
              </a:srgbClr>
            </a:outerShdw>
          </a:effectLst>
        </p:spPr>
      </p:sp>
      <p:sp>
        <p:nvSpPr>
          <p:cNvPr id="12" name="Text 10"/>
          <p:cNvSpPr/>
          <p:nvPr/>
        </p:nvSpPr>
        <p:spPr>
          <a:xfrm>
            <a:off x="685800" y="2990088"/>
            <a:ext cx="3200400" cy="292608"/>
          </a:xfrm>
          <a:prstGeom prst="rect">
            <a:avLst/>
          </a:prstGeom>
          <a:noFill/>
          <a:ln/>
        </p:spPr>
        <p:txBody>
          <a:bodyPr wrap="square" lIns="0" tIns="0" rIns="0" bIns="0" rtlCol="0" anchor="ctr"/>
          <a:lstStyle/>
          <a:p>
            <a:pPr indent="0" marL="0">
              <a:buNone/>
            </a:pPr>
            <a:r>
              <a:rPr lang="en-US" sz="1300" b="1" spc="200" kern="0" dirty="0">
                <a:solidFill>
                  <a:srgbClr val="F59E0B"/>
                </a:solidFill>
                <a:latin typeface="Arial" pitchFamily="34" charset="0"/>
                <a:ea typeface="Arial" pitchFamily="34" charset="-122"/>
                <a:cs typeface="Arial" pitchFamily="34" charset="-120"/>
              </a:rPr>
              <a:t>WITH CHAINSENTINEL</a:t>
            </a:r>
            <a:endParaRPr lang="en-US" sz="1300" dirty="0"/>
          </a:p>
        </p:txBody>
      </p:sp>
      <p:sp>
        <p:nvSpPr>
          <p:cNvPr id="13" name="Text 11"/>
          <p:cNvSpPr/>
          <p:nvPr/>
        </p:nvSpPr>
        <p:spPr>
          <a:xfrm>
            <a:off x="685800" y="3346704"/>
            <a:ext cx="2468880" cy="274320"/>
          </a:xfrm>
          <a:prstGeom prst="rect">
            <a:avLst/>
          </a:prstGeom>
          <a:noFill/>
          <a:ln/>
        </p:spPr>
        <p:txBody>
          <a:bodyPr wrap="square" lIns="0" tIns="0" rIns="0" bIns="0" rtlCol="0" anchor="ctr"/>
          <a:lstStyle/>
          <a:p>
            <a:pPr indent="0" marL="0">
              <a:buNone/>
            </a:pPr>
            <a:r>
              <a:rPr lang="en-US" sz="1300" b="1" dirty="0">
                <a:solidFill>
                  <a:srgbClr val="F59E0B"/>
                </a:solidFill>
                <a:latin typeface="Arial" pitchFamily="34" charset="0"/>
                <a:ea typeface="Arial" pitchFamily="34" charset="-122"/>
                <a:cs typeface="Arial" pitchFamily="34" charset="-120"/>
              </a:rPr>
              <a:t>Day 0</a:t>
            </a:r>
            <a:endParaRPr lang="en-US" sz="1300" dirty="0"/>
          </a:p>
        </p:txBody>
      </p:sp>
      <p:sp>
        <p:nvSpPr>
          <p:cNvPr id="14" name="Text 12"/>
          <p:cNvSpPr/>
          <p:nvPr/>
        </p:nvSpPr>
        <p:spPr>
          <a:xfrm>
            <a:off x="685800" y="3621024"/>
            <a:ext cx="2468880" cy="960120"/>
          </a:xfrm>
          <a:prstGeom prst="rect">
            <a:avLst/>
          </a:prstGeom>
          <a:noFill/>
          <a:ln/>
        </p:spPr>
        <p:txBody>
          <a:bodyPr wrap="square" lIns="0" tIns="0" rIns="0" bIns="0" rtlCol="0" anchor="ctr"/>
          <a:lstStyle/>
          <a:p>
            <a:pPr indent="0" marL="0">
              <a:buNone/>
            </a:pPr>
            <a:r>
              <a:rPr lang="en-US" sz="1150" dirty="0">
                <a:solidFill>
                  <a:srgbClr val="E2E8F0"/>
                </a:solidFill>
                <a:latin typeface="Arial" pitchFamily="34" charset="0"/>
                <a:ea typeface="Arial" pitchFamily="34" charset="-122"/>
                <a:cs typeface="Arial" pitchFamily="34" charset="-120"/>
              </a:rPr>
              <a:t>Risk on rebar jumps to 62% — flagged as critical-path.</a:t>
            </a:r>
            <a:endParaRPr lang="en-US" sz="1150" dirty="0"/>
          </a:p>
        </p:txBody>
      </p:sp>
      <p:sp>
        <p:nvSpPr>
          <p:cNvPr id="15" name="Text 13"/>
          <p:cNvSpPr/>
          <p:nvPr/>
        </p:nvSpPr>
        <p:spPr>
          <a:xfrm>
            <a:off x="3383280" y="3346704"/>
            <a:ext cx="2468880" cy="274320"/>
          </a:xfrm>
          <a:prstGeom prst="rect">
            <a:avLst/>
          </a:prstGeom>
          <a:noFill/>
          <a:ln/>
        </p:spPr>
        <p:txBody>
          <a:bodyPr wrap="square" lIns="0" tIns="0" rIns="0" bIns="0" rtlCol="0" anchor="ctr"/>
          <a:lstStyle/>
          <a:p>
            <a:pPr indent="0" marL="0">
              <a:buNone/>
            </a:pPr>
            <a:r>
              <a:rPr lang="en-US" sz="1300" b="1" dirty="0">
                <a:solidFill>
                  <a:srgbClr val="F59E0B"/>
                </a:solidFill>
                <a:latin typeface="Arial" pitchFamily="34" charset="0"/>
                <a:ea typeface="Arial" pitchFamily="34" charset="-122"/>
                <a:cs typeface="Arial" pitchFamily="34" charset="-120"/>
              </a:rPr>
              <a:t>Day 0 +2h</a:t>
            </a:r>
            <a:endParaRPr lang="en-US" sz="1300" dirty="0"/>
          </a:p>
        </p:txBody>
      </p:sp>
      <p:sp>
        <p:nvSpPr>
          <p:cNvPr id="16" name="Text 14"/>
          <p:cNvSpPr/>
          <p:nvPr/>
        </p:nvSpPr>
        <p:spPr>
          <a:xfrm>
            <a:off x="3383280" y="3621024"/>
            <a:ext cx="2468880" cy="960120"/>
          </a:xfrm>
          <a:prstGeom prst="rect">
            <a:avLst/>
          </a:prstGeom>
          <a:noFill/>
          <a:ln/>
        </p:spPr>
        <p:txBody>
          <a:bodyPr wrap="square" lIns="0" tIns="0" rIns="0" bIns="0" rtlCol="0" anchor="ctr"/>
          <a:lstStyle/>
          <a:p>
            <a:pPr indent="0" marL="0">
              <a:buNone/>
            </a:pPr>
            <a:r>
              <a:rPr lang="en-US" sz="1150" dirty="0">
                <a:solidFill>
                  <a:srgbClr val="E2E8F0"/>
                </a:solidFill>
                <a:latin typeface="Arial" pitchFamily="34" charset="0"/>
                <a:ea typeface="Arial" pitchFamily="34" charset="-122"/>
                <a:cs typeface="Arial" pitchFamily="34" charset="-120"/>
              </a:rPr>
              <a:t>Agent retrieves PO + penalty clause, recalls similar past cases, drafts committee alert.</a:t>
            </a:r>
            <a:endParaRPr lang="en-US" sz="1150" dirty="0"/>
          </a:p>
        </p:txBody>
      </p:sp>
      <p:sp>
        <p:nvSpPr>
          <p:cNvPr id="17" name="Text 15"/>
          <p:cNvSpPr/>
          <p:nvPr/>
        </p:nvSpPr>
        <p:spPr>
          <a:xfrm>
            <a:off x="6080760" y="3346704"/>
            <a:ext cx="2468880" cy="274320"/>
          </a:xfrm>
          <a:prstGeom prst="rect">
            <a:avLst/>
          </a:prstGeom>
          <a:noFill/>
          <a:ln/>
        </p:spPr>
        <p:txBody>
          <a:bodyPr wrap="square" lIns="0" tIns="0" rIns="0" bIns="0" rtlCol="0" anchor="ctr"/>
          <a:lstStyle/>
          <a:p>
            <a:pPr indent="0" marL="0">
              <a:buNone/>
            </a:pPr>
            <a:r>
              <a:rPr lang="en-US" sz="1300" b="1" dirty="0">
                <a:solidFill>
                  <a:srgbClr val="F59E0B"/>
                </a:solidFill>
                <a:latin typeface="Arial" pitchFamily="34" charset="0"/>
                <a:ea typeface="Arial" pitchFamily="34" charset="-122"/>
                <a:cs typeface="Arial" pitchFamily="34" charset="-120"/>
              </a:rPr>
              <a:t>Day 1</a:t>
            </a:r>
            <a:endParaRPr lang="en-US" sz="1300" dirty="0"/>
          </a:p>
        </p:txBody>
      </p:sp>
      <p:sp>
        <p:nvSpPr>
          <p:cNvPr id="18" name="Text 16"/>
          <p:cNvSpPr/>
          <p:nvPr/>
        </p:nvSpPr>
        <p:spPr>
          <a:xfrm>
            <a:off x="6080760" y="3621024"/>
            <a:ext cx="2468880" cy="960120"/>
          </a:xfrm>
          <a:prstGeom prst="rect">
            <a:avLst/>
          </a:prstGeom>
          <a:noFill/>
          <a:ln/>
        </p:spPr>
        <p:txBody>
          <a:bodyPr wrap="square" lIns="0" tIns="0" rIns="0" bIns="0" rtlCol="0" anchor="ctr"/>
          <a:lstStyle/>
          <a:p>
            <a:pPr indent="0" marL="0">
              <a:buNone/>
            </a:pPr>
            <a:r>
              <a:rPr lang="en-US" sz="1150" dirty="0">
                <a:solidFill>
                  <a:srgbClr val="E2E8F0"/>
                </a:solidFill>
                <a:latin typeface="Arial" pitchFamily="34" charset="0"/>
                <a:ea typeface="Arial" pitchFamily="34" charset="-122"/>
                <a:cs typeface="Arial" pitchFamily="34" charset="-120"/>
              </a:rPr>
              <a:t>Human approves. Expedite executed. Outcome remembered.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The loop: forecast → act → remember</a:t>
            </a:r>
            <a:endParaRPr lang="en-US" sz="30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indent="0" marL="0">
              <a:buNone/>
            </a:pPr>
            <a:r>
              <a:rPr lang="en-US" sz="1450" dirty="0">
                <a:solidFill>
                  <a:srgbClr val="64748B"/>
                </a:solidFill>
                <a:latin typeface="Arial" pitchFamily="34" charset="0"/>
                <a:ea typeface="Arial" pitchFamily="34" charset="-122"/>
                <a:cs typeface="Arial" pitchFamily="34" charset="-120"/>
              </a:rPr>
              <a:t>ChainSentinel forecasts delay, cost, demand and risk for every material — then an agent completes the mitigation workflow.</a:t>
            </a:r>
            <a:endParaRPr lang="en-US" sz="1450" dirty="0"/>
          </a:p>
        </p:txBody>
      </p:sp>
      <p:sp>
        <p:nvSpPr>
          <p:cNvPr id="4" name="Shape 2"/>
          <p:cNvSpPr/>
          <p:nvPr/>
        </p:nvSpPr>
        <p:spPr>
          <a:xfrm>
            <a:off x="457200" y="1463040"/>
            <a:ext cx="2651760" cy="1481328"/>
          </a:xfrm>
          <a:prstGeom prst="roundRect">
            <a:avLst>
              <a:gd name="adj" fmla="val 5556"/>
            </a:avLst>
          </a:prstGeom>
          <a:solidFill>
            <a:srgbClr val="F5F7FA"/>
          </a:solidFill>
          <a:ln/>
          <a:effectLst>
            <a:outerShdw sx="100000" sy="100000" kx="0" ky="0" algn="bl" rotWithShape="0" blurRad="88900" dist="25400" dir="2700000">
              <a:srgbClr val="000000">
                <a:alpha val="13000"/>
              </a:srgbClr>
            </a:outerShdw>
          </a:effectLst>
        </p:spPr>
      </p:sp>
      <p:sp>
        <p:nvSpPr>
          <p:cNvPr id="5" name="Shape 3"/>
          <p:cNvSpPr/>
          <p:nvPr/>
        </p:nvSpPr>
        <p:spPr>
          <a:xfrm>
            <a:off x="640080" y="1627632"/>
            <a:ext cx="438912" cy="438912"/>
          </a:xfrm>
          <a:prstGeom prst="ellipse">
            <a:avLst/>
          </a:prstGeom>
          <a:solidFill>
            <a:srgbClr val="FEF3C7"/>
          </a:solidFill>
          <a:ln/>
        </p:spPr>
      </p:sp>
      <p:pic>
        <p:nvPicPr>
          <p:cNvPr id="6" name="Image 0" descr="preencoded.png">    </p:cNvPr>
          <p:cNvPicPr>
            <a:picLocks noChangeAspect="1"/>
          </p:cNvPicPr>
          <p:nvPr/>
        </p:nvPicPr>
        <p:blipFill>
          <a:blip r:embed="rId1"/>
          <a:stretch>
            <a:fillRect/>
          </a:stretch>
        </p:blipFill>
        <p:spPr>
          <a:xfrm>
            <a:off x="745419" y="1732971"/>
            <a:ext cx="228234" cy="228234"/>
          </a:xfrm>
          <a:prstGeom prst="rect">
            <a:avLst/>
          </a:prstGeom>
        </p:spPr>
      </p:pic>
      <p:sp>
        <p:nvSpPr>
          <p:cNvPr id="7" name="Text 4"/>
          <p:cNvSpPr/>
          <p:nvPr/>
        </p:nvSpPr>
        <p:spPr>
          <a:xfrm>
            <a:off x="1207008" y="1645920"/>
            <a:ext cx="1828800" cy="411480"/>
          </a:xfrm>
          <a:prstGeom prst="rect">
            <a:avLst/>
          </a:prstGeom>
          <a:noFill/>
          <a:ln/>
        </p:spPr>
        <p:txBody>
          <a:bodyPr wrap="square" lIns="0" tIns="0" rIns="0" bIns="0" rtlCol="0" anchor="ctr"/>
          <a:lstStyle/>
          <a:p>
            <a:pPr indent="0" marL="0">
              <a:buNone/>
            </a:pPr>
            <a:r>
              <a:rPr lang="en-US" sz="1650" b="1" dirty="0">
                <a:solidFill>
                  <a:srgbClr val="1E293B"/>
                </a:solidFill>
                <a:latin typeface="Arial" pitchFamily="34" charset="0"/>
                <a:ea typeface="Arial" pitchFamily="34" charset="-122"/>
                <a:cs typeface="Arial" pitchFamily="34" charset="-120"/>
              </a:rPr>
              <a:t>1. Forecast</a:t>
            </a:r>
            <a:endParaRPr lang="en-US" sz="1650" dirty="0"/>
          </a:p>
        </p:txBody>
      </p:sp>
      <p:sp>
        <p:nvSpPr>
          <p:cNvPr id="8" name="Text 5"/>
          <p:cNvSpPr/>
          <p:nvPr/>
        </p:nvSpPr>
        <p:spPr>
          <a:xfrm>
            <a:off x="640080" y="2176272"/>
            <a:ext cx="2286000" cy="68580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Quantile forecasts per material; risk = P(late)</a:t>
            </a:r>
            <a:endParaRPr lang="en-US" sz="1150" dirty="0"/>
          </a:p>
        </p:txBody>
      </p:sp>
      <p:sp>
        <p:nvSpPr>
          <p:cNvPr id="9" name="Shape 6"/>
          <p:cNvSpPr/>
          <p:nvPr/>
        </p:nvSpPr>
        <p:spPr>
          <a:xfrm>
            <a:off x="3319272" y="1463040"/>
            <a:ext cx="2651760" cy="1481328"/>
          </a:xfrm>
          <a:prstGeom prst="roundRect">
            <a:avLst>
              <a:gd name="adj" fmla="val 5556"/>
            </a:avLst>
          </a:prstGeom>
          <a:solidFill>
            <a:srgbClr val="F5F7FA"/>
          </a:solidFill>
          <a:ln/>
          <a:effectLst>
            <a:outerShdw sx="100000" sy="100000" kx="0" ky="0" algn="bl" rotWithShape="0" blurRad="88900" dist="25400" dir="2700000">
              <a:srgbClr val="000000">
                <a:alpha val="13000"/>
              </a:srgbClr>
            </a:outerShdw>
          </a:effectLst>
        </p:spPr>
      </p:sp>
      <p:sp>
        <p:nvSpPr>
          <p:cNvPr id="10" name="Shape 7"/>
          <p:cNvSpPr/>
          <p:nvPr/>
        </p:nvSpPr>
        <p:spPr>
          <a:xfrm>
            <a:off x="3502152" y="1627632"/>
            <a:ext cx="438912" cy="438912"/>
          </a:xfrm>
          <a:prstGeom prst="ellipse">
            <a:avLst/>
          </a:prstGeom>
          <a:solidFill>
            <a:srgbClr val="FEF3C7"/>
          </a:solidFill>
          <a:ln/>
        </p:spPr>
      </p:sp>
      <p:pic>
        <p:nvPicPr>
          <p:cNvPr id="11" name="Image 1" descr="preencoded.png">    </p:cNvPr>
          <p:cNvPicPr>
            <a:picLocks noChangeAspect="1"/>
          </p:cNvPicPr>
          <p:nvPr/>
        </p:nvPicPr>
        <p:blipFill>
          <a:blip r:embed="rId2"/>
          <a:stretch>
            <a:fillRect/>
          </a:stretch>
        </p:blipFill>
        <p:spPr>
          <a:xfrm>
            <a:off x="3607491" y="1732971"/>
            <a:ext cx="228234" cy="228234"/>
          </a:xfrm>
          <a:prstGeom prst="rect">
            <a:avLst/>
          </a:prstGeom>
        </p:spPr>
      </p:pic>
      <p:sp>
        <p:nvSpPr>
          <p:cNvPr id="12" name="Text 8"/>
          <p:cNvSpPr/>
          <p:nvPr/>
        </p:nvSpPr>
        <p:spPr>
          <a:xfrm>
            <a:off x="4069080" y="1645920"/>
            <a:ext cx="1828800" cy="411480"/>
          </a:xfrm>
          <a:prstGeom prst="rect">
            <a:avLst/>
          </a:prstGeom>
          <a:noFill/>
          <a:ln/>
        </p:spPr>
        <p:txBody>
          <a:bodyPr wrap="square" lIns="0" tIns="0" rIns="0" bIns="0" rtlCol="0" anchor="ctr"/>
          <a:lstStyle/>
          <a:p>
            <a:pPr indent="0" marL="0">
              <a:buNone/>
            </a:pPr>
            <a:r>
              <a:rPr lang="en-US" sz="1650" b="1" dirty="0">
                <a:solidFill>
                  <a:srgbClr val="1E293B"/>
                </a:solidFill>
                <a:latin typeface="Arial" pitchFamily="34" charset="0"/>
                <a:ea typeface="Arial" pitchFamily="34" charset="-122"/>
                <a:cs typeface="Arial" pitchFamily="34" charset="-120"/>
              </a:rPr>
              <a:t>2. Detect</a:t>
            </a:r>
            <a:endParaRPr lang="en-US" sz="1650" dirty="0"/>
          </a:p>
        </p:txBody>
      </p:sp>
      <p:sp>
        <p:nvSpPr>
          <p:cNvPr id="13" name="Text 9"/>
          <p:cNvSpPr/>
          <p:nvPr/>
        </p:nvSpPr>
        <p:spPr>
          <a:xfrm>
            <a:off x="3502152" y="2176272"/>
            <a:ext cx="2286000" cy="68580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Shock signals adjust risk; critical-path filter</a:t>
            </a:r>
            <a:endParaRPr lang="en-US" sz="1150" dirty="0"/>
          </a:p>
        </p:txBody>
      </p:sp>
      <p:sp>
        <p:nvSpPr>
          <p:cNvPr id="14" name="Shape 10"/>
          <p:cNvSpPr/>
          <p:nvPr/>
        </p:nvSpPr>
        <p:spPr>
          <a:xfrm>
            <a:off x="6181344" y="1463040"/>
            <a:ext cx="2651760" cy="1481328"/>
          </a:xfrm>
          <a:prstGeom prst="roundRect">
            <a:avLst>
              <a:gd name="adj" fmla="val 5556"/>
            </a:avLst>
          </a:prstGeom>
          <a:solidFill>
            <a:srgbClr val="F5F7FA"/>
          </a:solidFill>
          <a:ln/>
          <a:effectLst>
            <a:outerShdw sx="100000" sy="100000" kx="0" ky="0" algn="bl" rotWithShape="0" blurRad="88900" dist="25400" dir="2700000">
              <a:srgbClr val="000000">
                <a:alpha val="13000"/>
              </a:srgbClr>
            </a:outerShdw>
          </a:effectLst>
        </p:spPr>
      </p:sp>
      <p:sp>
        <p:nvSpPr>
          <p:cNvPr id="15" name="Shape 11"/>
          <p:cNvSpPr/>
          <p:nvPr/>
        </p:nvSpPr>
        <p:spPr>
          <a:xfrm>
            <a:off x="6364224" y="1627632"/>
            <a:ext cx="438912" cy="438912"/>
          </a:xfrm>
          <a:prstGeom prst="ellipse">
            <a:avLst/>
          </a:prstGeom>
          <a:solidFill>
            <a:srgbClr val="FEF3C7"/>
          </a:solidFill>
          <a:ln/>
        </p:spPr>
      </p:sp>
      <p:pic>
        <p:nvPicPr>
          <p:cNvPr id="16" name="Image 2" descr="preencoded.png">    </p:cNvPr>
          <p:cNvPicPr>
            <a:picLocks noChangeAspect="1"/>
          </p:cNvPicPr>
          <p:nvPr/>
        </p:nvPicPr>
        <p:blipFill>
          <a:blip r:embed="rId3"/>
          <a:stretch>
            <a:fillRect/>
          </a:stretch>
        </p:blipFill>
        <p:spPr>
          <a:xfrm>
            <a:off x="6469563" y="1732971"/>
            <a:ext cx="228234" cy="228234"/>
          </a:xfrm>
          <a:prstGeom prst="rect">
            <a:avLst/>
          </a:prstGeom>
        </p:spPr>
      </p:pic>
      <p:sp>
        <p:nvSpPr>
          <p:cNvPr id="17" name="Text 12"/>
          <p:cNvSpPr/>
          <p:nvPr/>
        </p:nvSpPr>
        <p:spPr>
          <a:xfrm>
            <a:off x="6931152" y="1645920"/>
            <a:ext cx="1828800" cy="411480"/>
          </a:xfrm>
          <a:prstGeom prst="rect">
            <a:avLst/>
          </a:prstGeom>
          <a:noFill/>
          <a:ln/>
        </p:spPr>
        <p:txBody>
          <a:bodyPr wrap="square" lIns="0" tIns="0" rIns="0" bIns="0" rtlCol="0" anchor="ctr"/>
          <a:lstStyle/>
          <a:p>
            <a:pPr indent="0" marL="0">
              <a:buNone/>
            </a:pPr>
            <a:r>
              <a:rPr lang="en-US" sz="1650" b="1" dirty="0">
                <a:solidFill>
                  <a:srgbClr val="1E293B"/>
                </a:solidFill>
                <a:latin typeface="Arial" pitchFamily="34" charset="0"/>
                <a:ea typeface="Arial" pitchFamily="34" charset="-122"/>
                <a:cs typeface="Arial" pitchFamily="34" charset="-120"/>
              </a:rPr>
              <a:t>3. Evidence</a:t>
            </a:r>
            <a:endParaRPr lang="en-US" sz="1650" dirty="0"/>
          </a:p>
        </p:txBody>
      </p:sp>
      <p:sp>
        <p:nvSpPr>
          <p:cNvPr id="18" name="Text 13"/>
          <p:cNvSpPr/>
          <p:nvPr/>
        </p:nvSpPr>
        <p:spPr>
          <a:xfrm>
            <a:off x="6364224" y="2176272"/>
            <a:ext cx="2286000" cy="68580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PO + exact contract clause, string-verified</a:t>
            </a:r>
            <a:endParaRPr lang="en-US" sz="1150" dirty="0"/>
          </a:p>
        </p:txBody>
      </p:sp>
      <p:sp>
        <p:nvSpPr>
          <p:cNvPr id="19" name="Shape 14"/>
          <p:cNvSpPr/>
          <p:nvPr/>
        </p:nvSpPr>
        <p:spPr>
          <a:xfrm>
            <a:off x="457200" y="3154680"/>
            <a:ext cx="2651760" cy="1481328"/>
          </a:xfrm>
          <a:prstGeom prst="roundRect">
            <a:avLst>
              <a:gd name="adj" fmla="val 5556"/>
            </a:avLst>
          </a:prstGeom>
          <a:solidFill>
            <a:srgbClr val="F5F7FA"/>
          </a:solidFill>
          <a:ln/>
          <a:effectLst>
            <a:outerShdw sx="100000" sy="100000" kx="0" ky="0" algn="bl" rotWithShape="0" blurRad="88900" dist="25400" dir="2700000">
              <a:srgbClr val="000000">
                <a:alpha val="13000"/>
              </a:srgbClr>
            </a:outerShdw>
          </a:effectLst>
        </p:spPr>
      </p:sp>
      <p:sp>
        <p:nvSpPr>
          <p:cNvPr id="20" name="Shape 15"/>
          <p:cNvSpPr/>
          <p:nvPr/>
        </p:nvSpPr>
        <p:spPr>
          <a:xfrm>
            <a:off x="640080" y="3319272"/>
            <a:ext cx="438912" cy="438912"/>
          </a:xfrm>
          <a:prstGeom prst="ellipse">
            <a:avLst/>
          </a:prstGeom>
          <a:solidFill>
            <a:srgbClr val="FEF3C7"/>
          </a:solidFill>
          <a:ln/>
        </p:spPr>
      </p:sp>
      <p:pic>
        <p:nvPicPr>
          <p:cNvPr id="21" name="Image 3" descr="preencoded.png">    </p:cNvPr>
          <p:cNvPicPr>
            <a:picLocks noChangeAspect="1"/>
          </p:cNvPicPr>
          <p:nvPr/>
        </p:nvPicPr>
        <p:blipFill>
          <a:blip r:embed="rId4"/>
          <a:stretch>
            <a:fillRect/>
          </a:stretch>
        </p:blipFill>
        <p:spPr>
          <a:xfrm>
            <a:off x="745419" y="3424611"/>
            <a:ext cx="228234" cy="228234"/>
          </a:xfrm>
          <a:prstGeom prst="rect">
            <a:avLst/>
          </a:prstGeom>
        </p:spPr>
      </p:pic>
      <p:sp>
        <p:nvSpPr>
          <p:cNvPr id="22" name="Text 16"/>
          <p:cNvSpPr/>
          <p:nvPr/>
        </p:nvSpPr>
        <p:spPr>
          <a:xfrm>
            <a:off x="1207008" y="3337560"/>
            <a:ext cx="1828800" cy="411480"/>
          </a:xfrm>
          <a:prstGeom prst="rect">
            <a:avLst/>
          </a:prstGeom>
          <a:noFill/>
          <a:ln/>
        </p:spPr>
        <p:txBody>
          <a:bodyPr wrap="square" lIns="0" tIns="0" rIns="0" bIns="0" rtlCol="0" anchor="ctr"/>
          <a:lstStyle/>
          <a:p>
            <a:pPr indent="0" marL="0">
              <a:buNone/>
            </a:pPr>
            <a:r>
              <a:rPr lang="en-US" sz="1650" b="1" dirty="0">
                <a:solidFill>
                  <a:srgbClr val="1E293B"/>
                </a:solidFill>
                <a:latin typeface="Arial" pitchFamily="34" charset="0"/>
                <a:ea typeface="Arial" pitchFamily="34" charset="-122"/>
                <a:cs typeface="Arial" pitchFamily="34" charset="-120"/>
              </a:rPr>
              <a:t>4. Recall</a:t>
            </a:r>
            <a:endParaRPr lang="en-US" sz="1650" dirty="0"/>
          </a:p>
        </p:txBody>
      </p:sp>
      <p:sp>
        <p:nvSpPr>
          <p:cNvPr id="23" name="Text 17"/>
          <p:cNvSpPr/>
          <p:nvPr/>
        </p:nvSpPr>
        <p:spPr>
          <a:xfrm>
            <a:off x="640080" y="3867912"/>
            <a:ext cx="2286000" cy="68580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Similar past disruptions and what they cost</a:t>
            </a:r>
            <a:endParaRPr lang="en-US" sz="1150" dirty="0"/>
          </a:p>
        </p:txBody>
      </p:sp>
      <p:sp>
        <p:nvSpPr>
          <p:cNvPr id="24" name="Shape 18"/>
          <p:cNvSpPr/>
          <p:nvPr/>
        </p:nvSpPr>
        <p:spPr>
          <a:xfrm>
            <a:off x="3319272" y="3154680"/>
            <a:ext cx="2651760" cy="1481328"/>
          </a:xfrm>
          <a:prstGeom prst="roundRect">
            <a:avLst>
              <a:gd name="adj" fmla="val 5556"/>
            </a:avLst>
          </a:prstGeom>
          <a:solidFill>
            <a:srgbClr val="F5F7FA"/>
          </a:solidFill>
          <a:ln/>
          <a:effectLst>
            <a:outerShdw sx="100000" sy="100000" kx="0" ky="0" algn="bl" rotWithShape="0" blurRad="88900" dist="25400" dir="2700000">
              <a:srgbClr val="000000">
                <a:alpha val="13000"/>
              </a:srgbClr>
            </a:outerShdw>
          </a:effectLst>
        </p:spPr>
      </p:sp>
      <p:sp>
        <p:nvSpPr>
          <p:cNvPr id="25" name="Shape 19"/>
          <p:cNvSpPr/>
          <p:nvPr/>
        </p:nvSpPr>
        <p:spPr>
          <a:xfrm>
            <a:off x="3502152" y="3319272"/>
            <a:ext cx="438912" cy="438912"/>
          </a:xfrm>
          <a:prstGeom prst="ellipse">
            <a:avLst/>
          </a:prstGeom>
          <a:solidFill>
            <a:srgbClr val="FEF3C7"/>
          </a:solidFill>
          <a:ln/>
        </p:spPr>
      </p:sp>
      <p:pic>
        <p:nvPicPr>
          <p:cNvPr id="26" name="Image 4" descr="preencoded.png">    </p:cNvPr>
          <p:cNvPicPr>
            <a:picLocks noChangeAspect="1"/>
          </p:cNvPicPr>
          <p:nvPr/>
        </p:nvPicPr>
        <p:blipFill>
          <a:blip r:embed="rId5"/>
          <a:stretch>
            <a:fillRect/>
          </a:stretch>
        </p:blipFill>
        <p:spPr>
          <a:xfrm>
            <a:off x="3607491" y="3424611"/>
            <a:ext cx="228234" cy="228234"/>
          </a:xfrm>
          <a:prstGeom prst="rect">
            <a:avLst/>
          </a:prstGeom>
        </p:spPr>
      </p:pic>
      <p:sp>
        <p:nvSpPr>
          <p:cNvPr id="27" name="Text 20"/>
          <p:cNvSpPr/>
          <p:nvPr/>
        </p:nvSpPr>
        <p:spPr>
          <a:xfrm>
            <a:off x="4069080" y="3337560"/>
            <a:ext cx="1828800" cy="411480"/>
          </a:xfrm>
          <a:prstGeom prst="rect">
            <a:avLst/>
          </a:prstGeom>
          <a:noFill/>
          <a:ln/>
        </p:spPr>
        <p:txBody>
          <a:bodyPr wrap="square" lIns="0" tIns="0" rIns="0" bIns="0" rtlCol="0" anchor="ctr"/>
          <a:lstStyle/>
          <a:p>
            <a:pPr indent="0" marL="0">
              <a:buNone/>
            </a:pPr>
            <a:r>
              <a:rPr lang="en-US" sz="1650" b="1" dirty="0">
                <a:solidFill>
                  <a:srgbClr val="1E293B"/>
                </a:solidFill>
                <a:latin typeface="Arial" pitchFamily="34" charset="0"/>
                <a:ea typeface="Arial" pitchFamily="34" charset="-122"/>
                <a:cs typeface="Arial" pitchFamily="34" charset="-120"/>
              </a:rPr>
              <a:t>5. Act</a:t>
            </a:r>
            <a:endParaRPr lang="en-US" sz="1650" dirty="0"/>
          </a:p>
        </p:txBody>
      </p:sp>
      <p:sp>
        <p:nvSpPr>
          <p:cNvPr id="28" name="Text 21"/>
          <p:cNvSpPr/>
          <p:nvPr/>
        </p:nvSpPr>
        <p:spPr>
          <a:xfrm>
            <a:off x="3502152" y="3867912"/>
            <a:ext cx="2286000" cy="68580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Committee alert → human approves → execute</a:t>
            </a:r>
            <a:endParaRPr lang="en-US" sz="1150" dirty="0"/>
          </a:p>
        </p:txBody>
      </p:sp>
      <p:sp>
        <p:nvSpPr>
          <p:cNvPr id="29" name="Shape 22"/>
          <p:cNvSpPr/>
          <p:nvPr/>
        </p:nvSpPr>
        <p:spPr>
          <a:xfrm>
            <a:off x="6181344" y="3154680"/>
            <a:ext cx="2651760" cy="1481328"/>
          </a:xfrm>
          <a:prstGeom prst="roundRect">
            <a:avLst>
              <a:gd name="adj" fmla="val 5556"/>
            </a:avLst>
          </a:prstGeom>
          <a:solidFill>
            <a:srgbClr val="F5F7FA"/>
          </a:solidFill>
          <a:ln/>
          <a:effectLst>
            <a:outerShdw sx="100000" sy="100000" kx="0" ky="0" algn="bl" rotWithShape="0" blurRad="88900" dist="25400" dir="2700000">
              <a:srgbClr val="000000">
                <a:alpha val="13000"/>
              </a:srgbClr>
            </a:outerShdw>
          </a:effectLst>
        </p:spPr>
      </p:sp>
      <p:sp>
        <p:nvSpPr>
          <p:cNvPr id="30" name="Shape 23"/>
          <p:cNvSpPr/>
          <p:nvPr/>
        </p:nvSpPr>
        <p:spPr>
          <a:xfrm>
            <a:off x="6364224" y="3319272"/>
            <a:ext cx="438912" cy="438912"/>
          </a:xfrm>
          <a:prstGeom prst="ellipse">
            <a:avLst/>
          </a:prstGeom>
          <a:solidFill>
            <a:srgbClr val="FEF3C7"/>
          </a:solidFill>
          <a:ln/>
        </p:spPr>
      </p:sp>
      <p:pic>
        <p:nvPicPr>
          <p:cNvPr id="31" name="Image 5" descr="preencoded.png">    </p:cNvPr>
          <p:cNvPicPr>
            <a:picLocks noChangeAspect="1"/>
          </p:cNvPicPr>
          <p:nvPr/>
        </p:nvPicPr>
        <p:blipFill>
          <a:blip r:embed="rId6"/>
          <a:stretch>
            <a:fillRect/>
          </a:stretch>
        </p:blipFill>
        <p:spPr>
          <a:xfrm>
            <a:off x="6469563" y="3424611"/>
            <a:ext cx="228234" cy="228234"/>
          </a:xfrm>
          <a:prstGeom prst="rect">
            <a:avLst/>
          </a:prstGeom>
        </p:spPr>
      </p:pic>
      <p:sp>
        <p:nvSpPr>
          <p:cNvPr id="32" name="Text 24"/>
          <p:cNvSpPr/>
          <p:nvPr/>
        </p:nvSpPr>
        <p:spPr>
          <a:xfrm>
            <a:off x="6931152" y="3337560"/>
            <a:ext cx="1828800" cy="411480"/>
          </a:xfrm>
          <a:prstGeom prst="rect">
            <a:avLst/>
          </a:prstGeom>
          <a:noFill/>
          <a:ln/>
        </p:spPr>
        <p:txBody>
          <a:bodyPr wrap="square" lIns="0" tIns="0" rIns="0" bIns="0" rtlCol="0" anchor="ctr"/>
          <a:lstStyle/>
          <a:p>
            <a:pPr indent="0" marL="0">
              <a:buNone/>
            </a:pPr>
            <a:r>
              <a:rPr lang="en-US" sz="1650" b="1" dirty="0">
                <a:solidFill>
                  <a:srgbClr val="1E293B"/>
                </a:solidFill>
                <a:latin typeface="Arial" pitchFamily="34" charset="0"/>
                <a:ea typeface="Arial" pitchFamily="34" charset="-122"/>
                <a:cs typeface="Arial" pitchFamily="34" charset="-120"/>
              </a:rPr>
              <a:t>6. Remember</a:t>
            </a:r>
            <a:endParaRPr lang="en-US" sz="1650" dirty="0"/>
          </a:p>
        </p:txBody>
      </p:sp>
      <p:sp>
        <p:nvSpPr>
          <p:cNvPr id="33" name="Text 25"/>
          <p:cNvSpPr/>
          <p:nvPr/>
        </p:nvSpPr>
        <p:spPr>
          <a:xfrm>
            <a:off x="6364224" y="3867912"/>
            <a:ext cx="2286000" cy="68580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Outcome written back; system gets smarter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Forecasts that admit their blind spots</a:t>
            </a:r>
            <a:endParaRPr lang="en-US" sz="3000" dirty="0"/>
          </a:p>
        </p:txBody>
      </p:sp>
      <p:graphicFrame>
        <p:nvGraphicFramePr>
          <p:cNvPr id="3" name="Chart 0" descr=""/>
          <p:cNvGraphicFramePr/>
          <p:nvPr/>
        </p:nvGraphicFramePr>
        <p:xfrm>
          <a:off x="457200" y="1051560"/>
          <a:ext cx="4206240" cy="30175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457200" y="4206240"/>
            <a:ext cx="4206240" cy="68580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Risk = P(arrival later than schedule buffer) — a real probability read off the distribution, not a gut-feel score.</a:t>
            </a:r>
            <a:endParaRPr lang="en-US" sz="1200" dirty="0"/>
          </a:p>
        </p:txBody>
      </p:sp>
      <p:sp>
        <p:nvSpPr>
          <p:cNvPr id="5" name="Shape 2"/>
          <p:cNvSpPr/>
          <p:nvPr/>
        </p:nvSpPr>
        <p:spPr>
          <a:xfrm>
            <a:off x="4937760" y="1051560"/>
            <a:ext cx="3749040" cy="1691640"/>
          </a:xfrm>
          <a:prstGeom prst="roundRect">
            <a:avLst>
              <a:gd name="adj" fmla="val 4865"/>
            </a:avLst>
          </a:prstGeom>
          <a:solidFill>
            <a:srgbClr val="F5F7FA"/>
          </a:solidFill>
          <a:ln/>
          <a:effectLst>
            <a:outerShdw sx="100000" sy="100000" kx="0" ky="0" algn="bl" rotWithShape="0" blurRad="88900" dist="25400" dir="2700000">
              <a:srgbClr val="000000">
                <a:alpha val="13000"/>
              </a:srgbClr>
            </a:outerShdw>
          </a:effectLst>
        </p:spPr>
      </p:sp>
      <p:sp>
        <p:nvSpPr>
          <p:cNvPr id="6" name="Shape 3"/>
          <p:cNvSpPr/>
          <p:nvPr/>
        </p:nvSpPr>
        <p:spPr>
          <a:xfrm>
            <a:off x="5120640" y="1216152"/>
            <a:ext cx="420624" cy="420624"/>
          </a:xfrm>
          <a:prstGeom prst="ellipse">
            <a:avLst/>
          </a:prstGeom>
          <a:solidFill>
            <a:srgbClr val="FEF3C7"/>
          </a:solidFill>
          <a:ln/>
        </p:spPr>
      </p:sp>
      <p:pic>
        <p:nvPicPr>
          <p:cNvPr id="7" name="Image 0" descr="preencoded.png">    </p:cNvPr>
          <p:cNvPicPr>
            <a:picLocks noChangeAspect="1"/>
          </p:cNvPicPr>
          <p:nvPr/>
        </p:nvPicPr>
        <p:blipFill>
          <a:blip r:embed="rId2"/>
          <a:stretch>
            <a:fillRect/>
          </a:stretch>
        </p:blipFill>
        <p:spPr>
          <a:xfrm>
            <a:off x="5221590" y="1317102"/>
            <a:ext cx="218724" cy="218724"/>
          </a:xfrm>
          <a:prstGeom prst="rect">
            <a:avLst/>
          </a:prstGeom>
        </p:spPr>
      </p:pic>
      <p:sp>
        <p:nvSpPr>
          <p:cNvPr id="8" name="Text 4"/>
          <p:cNvSpPr/>
          <p:nvPr/>
        </p:nvSpPr>
        <p:spPr>
          <a:xfrm>
            <a:off x="5650992" y="1234440"/>
            <a:ext cx="2880360" cy="41148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Layer 1 — Zero-shot foundation models</a:t>
            </a:r>
            <a:endParaRPr lang="en-US" sz="1400" dirty="0"/>
          </a:p>
        </p:txBody>
      </p:sp>
      <p:sp>
        <p:nvSpPr>
          <p:cNvPr id="9" name="Text 5"/>
          <p:cNvSpPr/>
          <p:nvPr/>
        </p:nvSpPr>
        <p:spPr>
          <a:xfrm>
            <a:off x="5120640" y="1719072"/>
            <a:ext cx="3383280" cy="96012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Chronos-2 / TimesFM quantile forecasts of lead time, price, demand — no training on our data. Cold-starts on any new site: that is the scalability claim, made technical.</a:t>
            </a:r>
            <a:endParaRPr lang="en-US" sz="1150" dirty="0"/>
          </a:p>
        </p:txBody>
      </p:sp>
      <p:sp>
        <p:nvSpPr>
          <p:cNvPr id="10" name="Shape 6"/>
          <p:cNvSpPr/>
          <p:nvPr/>
        </p:nvSpPr>
        <p:spPr>
          <a:xfrm>
            <a:off x="4937760" y="2926080"/>
            <a:ext cx="3749040" cy="1691640"/>
          </a:xfrm>
          <a:prstGeom prst="roundRect">
            <a:avLst>
              <a:gd name="adj" fmla="val 4865"/>
            </a:avLst>
          </a:prstGeom>
          <a:solidFill>
            <a:srgbClr val="F5F7FA"/>
          </a:solidFill>
          <a:ln/>
          <a:effectLst>
            <a:outerShdw sx="100000" sy="100000" kx="0" ky="0" algn="bl" rotWithShape="0" blurRad="88900" dist="25400" dir="2700000">
              <a:srgbClr val="000000">
                <a:alpha val="13000"/>
              </a:srgbClr>
            </a:outerShdw>
          </a:effectLst>
        </p:spPr>
      </p:sp>
      <p:sp>
        <p:nvSpPr>
          <p:cNvPr id="11" name="Shape 7"/>
          <p:cNvSpPr/>
          <p:nvPr/>
        </p:nvSpPr>
        <p:spPr>
          <a:xfrm>
            <a:off x="5120640" y="3090672"/>
            <a:ext cx="420624" cy="420624"/>
          </a:xfrm>
          <a:prstGeom prst="ellipse">
            <a:avLst/>
          </a:prstGeom>
          <a:solidFill>
            <a:srgbClr val="FEF3C7"/>
          </a:solidFill>
          <a:ln/>
        </p:spPr>
      </p:sp>
      <p:pic>
        <p:nvPicPr>
          <p:cNvPr id="12" name="Image 1" descr="preencoded.png">    </p:cNvPr>
          <p:cNvPicPr>
            <a:picLocks noChangeAspect="1"/>
          </p:cNvPicPr>
          <p:nvPr/>
        </p:nvPicPr>
        <p:blipFill>
          <a:blip r:embed="rId3"/>
          <a:stretch>
            <a:fillRect/>
          </a:stretch>
        </p:blipFill>
        <p:spPr>
          <a:xfrm>
            <a:off x="5221590" y="3191622"/>
            <a:ext cx="218724" cy="218724"/>
          </a:xfrm>
          <a:prstGeom prst="rect">
            <a:avLst/>
          </a:prstGeom>
        </p:spPr>
      </p:pic>
      <p:sp>
        <p:nvSpPr>
          <p:cNvPr id="13" name="Text 8"/>
          <p:cNvSpPr/>
          <p:nvPr/>
        </p:nvSpPr>
        <p:spPr>
          <a:xfrm>
            <a:off x="5650992" y="3108960"/>
            <a:ext cx="2880360" cy="41148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Layer 2 — Explicit shock signals</a:t>
            </a:r>
            <a:endParaRPr lang="en-US" sz="1400" dirty="0"/>
          </a:p>
        </p:txBody>
      </p:sp>
      <p:sp>
        <p:nvSpPr>
          <p:cNvPr id="14" name="Text 9"/>
          <p:cNvSpPr/>
          <p:nvPr/>
        </p:nvSpPr>
        <p:spPr>
          <a:xfrm>
            <a:off x="5120640" y="3593592"/>
            <a:ext cx="3383280" cy="96012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Research shows history-only models miss regime changes — and disruptions are regime changes. Vendor notices, weather and port status adjust risk explicitly, on top of the baseline.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The agent acts — behind a human gate</a:t>
            </a:r>
            <a:endParaRPr lang="en-US" sz="3000" dirty="0"/>
          </a:p>
        </p:txBody>
      </p:sp>
      <p:sp>
        <p:nvSpPr>
          <p:cNvPr id="3" name="Shape 1"/>
          <p:cNvSpPr/>
          <p:nvPr/>
        </p:nvSpPr>
        <p:spPr>
          <a:xfrm>
            <a:off x="457200" y="1097280"/>
            <a:ext cx="384048" cy="384048"/>
          </a:xfrm>
          <a:prstGeom prst="ellipse">
            <a:avLst/>
          </a:prstGeom>
          <a:solidFill>
            <a:srgbClr val="D97706"/>
          </a:solidFill>
          <a:ln/>
        </p:spPr>
      </p:sp>
      <p:sp>
        <p:nvSpPr>
          <p:cNvPr id="4" name="Text 2"/>
          <p:cNvSpPr/>
          <p:nvPr/>
        </p:nvSpPr>
        <p:spPr>
          <a:xfrm>
            <a:off x="457200" y="10789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5" name="Shape 3"/>
          <p:cNvSpPr/>
          <p:nvPr/>
        </p:nvSpPr>
        <p:spPr>
          <a:xfrm>
            <a:off x="987552" y="1060704"/>
            <a:ext cx="457200" cy="457200"/>
          </a:xfrm>
          <a:prstGeom prst="ellipse">
            <a:avLst/>
          </a:prstGeom>
          <a:solidFill>
            <a:srgbClr val="FEF3C7"/>
          </a:solidFill>
          <a:ln/>
        </p:spPr>
      </p:sp>
      <p:pic>
        <p:nvPicPr>
          <p:cNvPr id="6" name="Image 0" descr="preencoded.png">    </p:cNvPr>
          <p:cNvPicPr>
            <a:picLocks noChangeAspect="1"/>
          </p:cNvPicPr>
          <p:nvPr/>
        </p:nvPicPr>
        <p:blipFill>
          <a:blip r:embed="rId1"/>
          <a:stretch>
            <a:fillRect/>
          </a:stretch>
        </p:blipFill>
        <p:spPr>
          <a:xfrm>
            <a:off x="1097280" y="1170432"/>
            <a:ext cx="237744" cy="237744"/>
          </a:xfrm>
          <a:prstGeom prst="rect">
            <a:avLst/>
          </a:prstGeom>
        </p:spPr>
      </p:pic>
      <p:sp>
        <p:nvSpPr>
          <p:cNvPr id="7" name="Text 4"/>
          <p:cNvSpPr/>
          <p:nvPr/>
        </p:nvSpPr>
        <p:spPr>
          <a:xfrm>
            <a:off x="1600200" y="1024128"/>
            <a:ext cx="2651760" cy="603504"/>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Retrieve evidence</a:t>
            </a:r>
            <a:endParaRPr lang="en-US" sz="1500" dirty="0"/>
          </a:p>
        </p:txBody>
      </p:sp>
      <p:sp>
        <p:nvSpPr>
          <p:cNvPr id="8" name="Text 5"/>
          <p:cNvSpPr/>
          <p:nvPr/>
        </p:nvSpPr>
        <p:spPr>
          <a:xfrm>
            <a:off x="4343400" y="1024128"/>
            <a:ext cx="4343400" cy="73152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Pulls the PO and the exact penalty clause; every quote string-verified against the source document — no hallucinated citations.</a:t>
            </a:r>
            <a:endParaRPr lang="en-US" sz="1150" dirty="0"/>
          </a:p>
        </p:txBody>
      </p:sp>
      <p:sp>
        <p:nvSpPr>
          <p:cNvPr id="9" name="Shape 6"/>
          <p:cNvSpPr/>
          <p:nvPr/>
        </p:nvSpPr>
        <p:spPr>
          <a:xfrm>
            <a:off x="457200" y="1883664"/>
            <a:ext cx="384048" cy="384048"/>
          </a:xfrm>
          <a:prstGeom prst="ellipse">
            <a:avLst/>
          </a:prstGeom>
          <a:solidFill>
            <a:srgbClr val="D97706"/>
          </a:solidFill>
          <a:ln/>
        </p:spPr>
      </p:sp>
      <p:sp>
        <p:nvSpPr>
          <p:cNvPr id="10" name="Text 7"/>
          <p:cNvSpPr/>
          <p:nvPr/>
        </p:nvSpPr>
        <p:spPr>
          <a:xfrm>
            <a:off x="457200" y="18653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Shape 8"/>
          <p:cNvSpPr/>
          <p:nvPr/>
        </p:nvSpPr>
        <p:spPr>
          <a:xfrm>
            <a:off x="987552" y="1847088"/>
            <a:ext cx="457200" cy="457200"/>
          </a:xfrm>
          <a:prstGeom prst="ellipse">
            <a:avLst/>
          </a:prstGeom>
          <a:solidFill>
            <a:srgbClr val="FEF3C7"/>
          </a:solidFill>
          <a:ln/>
        </p:spPr>
      </p:sp>
      <p:pic>
        <p:nvPicPr>
          <p:cNvPr id="12" name="Image 1" descr="preencoded.png">    </p:cNvPr>
          <p:cNvPicPr>
            <a:picLocks noChangeAspect="1"/>
          </p:cNvPicPr>
          <p:nvPr/>
        </p:nvPicPr>
        <p:blipFill>
          <a:blip r:embed="rId2"/>
          <a:stretch>
            <a:fillRect/>
          </a:stretch>
        </p:blipFill>
        <p:spPr>
          <a:xfrm>
            <a:off x="1097280" y="1956816"/>
            <a:ext cx="237744" cy="237744"/>
          </a:xfrm>
          <a:prstGeom prst="rect">
            <a:avLst/>
          </a:prstGeom>
        </p:spPr>
      </p:pic>
      <p:sp>
        <p:nvSpPr>
          <p:cNvPr id="13" name="Text 9"/>
          <p:cNvSpPr/>
          <p:nvPr/>
        </p:nvSpPr>
        <p:spPr>
          <a:xfrm>
            <a:off x="1600200" y="1810512"/>
            <a:ext cx="2651760" cy="603504"/>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Recall precedent</a:t>
            </a:r>
            <a:endParaRPr lang="en-US" sz="1500" dirty="0"/>
          </a:p>
        </p:txBody>
      </p:sp>
      <p:sp>
        <p:nvSpPr>
          <p:cNvPr id="14" name="Text 10"/>
          <p:cNvSpPr/>
          <p:nvPr/>
        </p:nvSpPr>
        <p:spPr>
          <a:xfrm>
            <a:off x="4343400" y="1810512"/>
            <a:ext cx="4343400" cy="73152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Queries memory for similar disruptions: same material, cause, vendor type — and what resolution cost last time.</a:t>
            </a:r>
            <a:endParaRPr lang="en-US" sz="1150" dirty="0"/>
          </a:p>
        </p:txBody>
      </p:sp>
      <p:sp>
        <p:nvSpPr>
          <p:cNvPr id="15" name="Shape 11"/>
          <p:cNvSpPr/>
          <p:nvPr/>
        </p:nvSpPr>
        <p:spPr>
          <a:xfrm>
            <a:off x="457200" y="2670048"/>
            <a:ext cx="384048" cy="384048"/>
          </a:xfrm>
          <a:prstGeom prst="ellipse">
            <a:avLst/>
          </a:prstGeom>
          <a:solidFill>
            <a:srgbClr val="D97706"/>
          </a:solidFill>
          <a:ln/>
        </p:spPr>
      </p:sp>
      <p:sp>
        <p:nvSpPr>
          <p:cNvPr id="16" name="Text 12"/>
          <p:cNvSpPr/>
          <p:nvPr/>
        </p:nvSpPr>
        <p:spPr>
          <a:xfrm>
            <a:off x="457200" y="26517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Shape 13"/>
          <p:cNvSpPr/>
          <p:nvPr/>
        </p:nvSpPr>
        <p:spPr>
          <a:xfrm>
            <a:off x="987552" y="2633472"/>
            <a:ext cx="457200" cy="457200"/>
          </a:xfrm>
          <a:prstGeom prst="ellipse">
            <a:avLst/>
          </a:prstGeom>
          <a:solidFill>
            <a:srgbClr val="FEF3C7"/>
          </a:solidFill>
          <a:ln/>
        </p:spPr>
      </p:sp>
      <p:pic>
        <p:nvPicPr>
          <p:cNvPr id="18" name="Image 2" descr="preencoded.png">    </p:cNvPr>
          <p:cNvPicPr>
            <a:picLocks noChangeAspect="1"/>
          </p:cNvPicPr>
          <p:nvPr/>
        </p:nvPicPr>
        <p:blipFill>
          <a:blip r:embed="rId3"/>
          <a:stretch>
            <a:fillRect/>
          </a:stretch>
        </p:blipFill>
        <p:spPr>
          <a:xfrm>
            <a:off x="1097280" y="2743200"/>
            <a:ext cx="237744" cy="237744"/>
          </a:xfrm>
          <a:prstGeom prst="rect">
            <a:avLst/>
          </a:prstGeom>
        </p:spPr>
      </p:pic>
      <p:sp>
        <p:nvSpPr>
          <p:cNvPr id="19" name="Text 14"/>
          <p:cNvSpPr/>
          <p:nvPr/>
        </p:nvSpPr>
        <p:spPr>
          <a:xfrm>
            <a:off x="1600200" y="2596896"/>
            <a:ext cx="2651760" cy="603504"/>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Evaluate options</a:t>
            </a:r>
            <a:endParaRPr lang="en-US" sz="1500" dirty="0"/>
          </a:p>
        </p:txBody>
      </p:sp>
      <p:sp>
        <p:nvSpPr>
          <p:cNvPr id="20" name="Text 15"/>
          <p:cNvSpPr/>
          <p:nvPr/>
        </p:nvSpPr>
        <p:spPr>
          <a:xfrm>
            <a:off x="4343400" y="2596896"/>
            <a:ext cx="4343400" cy="73152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What-ifs run through a real critical-path optimizer. The LLM never does the math (OptiGuide pattern, Microsoft Research).</a:t>
            </a:r>
            <a:endParaRPr lang="en-US" sz="1150" dirty="0"/>
          </a:p>
        </p:txBody>
      </p:sp>
      <p:sp>
        <p:nvSpPr>
          <p:cNvPr id="21" name="Shape 16"/>
          <p:cNvSpPr/>
          <p:nvPr/>
        </p:nvSpPr>
        <p:spPr>
          <a:xfrm>
            <a:off x="457200" y="3456432"/>
            <a:ext cx="384048" cy="384048"/>
          </a:xfrm>
          <a:prstGeom prst="ellipse">
            <a:avLst/>
          </a:prstGeom>
          <a:solidFill>
            <a:srgbClr val="D97706"/>
          </a:solidFill>
          <a:ln/>
        </p:spPr>
      </p:sp>
      <p:sp>
        <p:nvSpPr>
          <p:cNvPr id="22" name="Text 17"/>
          <p:cNvSpPr/>
          <p:nvPr/>
        </p:nvSpPr>
        <p:spPr>
          <a:xfrm>
            <a:off x="457200" y="34381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3" name="Shape 18"/>
          <p:cNvSpPr/>
          <p:nvPr/>
        </p:nvSpPr>
        <p:spPr>
          <a:xfrm>
            <a:off x="987552" y="3419856"/>
            <a:ext cx="457200" cy="457200"/>
          </a:xfrm>
          <a:prstGeom prst="ellipse">
            <a:avLst/>
          </a:prstGeom>
          <a:solidFill>
            <a:srgbClr val="FEF3C7"/>
          </a:solidFill>
          <a:ln/>
        </p:spPr>
      </p:sp>
      <p:pic>
        <p:nvPicPr>
          <p:cNvPr id="24" name="Image 3" descr="preencoded.png">    </p:cNvPr>
          <p:cNvPicPr>
            <a:picLocks noChangeAspect="1"/>
          </p:cNvPicPr>
          <p:nvPr/>
        </p:nvPicPr>
        <p:blipFill>
          <a:blip r:embed="rId4"/>
          <a:stretch>
            <a:fillRect/>
          </a:stretch>
        </p:blipFill>
        <p:spPr>
          <a:xfrm>
            <a:off x="1097280" y="3529584"/>
            <a:ext cx="237744" cy="237744"/>
          </a:xfrm>
          <a:prstGeom prst="rect">
            <a:avLst/>
          </a:prstGeom>
        </p:spPr>
      </p:pic>
      <p:sp>
        <p:nvSpPr>
          <p:cNvPr id="25" name="Text 19"/>
          <p:cNvSpPr/>
          <p:nvPr/>
        </p:nvSpPr>
        <p:spPr>
          <a:xfrm>
            <a:off x="1600200" y="3383280"/>
            <a:ext cx="2651760" cy="603504"/>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Alert the committee</a:t>
            </a:r>
            <a:endParaRPr lang="en-US" sz="1500" dirty="0"/>
          </a:p>
        </p:txBody>
      </p:sp>
      <p:sp>
        <p:nvSpPr>
          <p:cNvPr id="26" name="Text 20"/>
          <p:cNvSpPr/>
          <p:nvPr/>
        </p:nvSpPr>
        <p:spPr>
          <a:xfrm>
            <a:off x="4343400" y="3383280"/>
            <a:ext cx="4343400" cy="73152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Drafts the alert with evidence attached and options ranked by remembered outcomes.</a:t>
            </a:r>
            <a:endParaRPr lang="en-US" sz="1150" dirty="0"/>
          </a:p>
        </p:txBody>
      </p:sp>
      <p:sp>
        <p:nvSpPr>
          <p:cNvPr id="27" name="Shape 21"/>
          <p:cNvSpPr/>
          <p:nvPr/>
        </p:nvSpPr>
        <p:spPr>
          <a:xfrm>
            <a:off x="457200" y="4242816"/>
            <a:ext cx="384048" cy="384048"/>
          </a:xfrm>
          <a:prstGeom prst="ellipse">
            <a:avLst/>
          </a:prstGeom>
          <a:solidFill>
            <a:srgbClr val="D97706"/>
          </a:solidFill>
          <a:ln/>
        </p:spPr>
      </p:sp>
      <p:sp>
        <p:nvSpPr>
          <p:cNvPr id="28" name="Text 22"/>
          <p:cNvSpPr/>
          <p:nvPr/>
        </p:nvSpPr>
        <p:spPr>
          <a:xfrm>
            <a:off x="457200" y="4224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9" name="Shape 23"/>
          <p:cNvSpPr/>
          <p:nvPr/>
        </p:nvSpPr>
        <p:spPr>
          <a:xfrm>
            <a:off x="987552" y="4206240"/>
            <a:ext cx="457200" cy="457200"/>
          </a:xfrm>
          <a:prstGeom prst="ellipse">
            <a:avLst/>
          </a:prstGeom>
          <a:solidFill>
            <a:srgbClr val="FEF3C7"/>
          </a:solidFill>
          <a:ln/>
        </p:spPr>
      </p:sp>
      <p:pic>
        <p:nvPicPr>
          <p:cNvPr id="30" name="Image 4" descr="preencoded.png">    </p:cNvPr>
          <p:cNvPicPr>
            <a:picLocks noChangeAspect="1"/>
          </p:cNvPicPr>
          <p:nvPr/>
        </p:nvPicPr>
        <p:blipFill>
          <a:blip r:embed="rId5"/>
          <a:stretch>
            <a:fillRect/>
          </a:stretch>
        </p:blipFill>
        <p:spPr>
          <a:xfrm>
            <a:off x="1097280" y="4315968"/>
            <a:ext cx="237744" cy="237744"/>
          </a:xfrm>
          <a:prstGeom prst="rect">
            <a:avLst/>
          </a:prstGeom>
        </p:spPr>
      </p:pic>
      <p:sp>
        <p:nvSpPr>
          <p:cNvPr id="31" name="Text 24"/>
          <p:cNvSpPr/>
          <p:nvPr/>
        </p:nvSpPr>
        <p:spPr>
          <a:xfrm>
            <a:off x="1600200" y="4169664"/>
            <a:ext cx="2651760" cy="603504"/>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Human approves → agent executes</a:t>
            </a:r>
            <a:endParaRPr lang="en-US" sz="1500" dirty="0"/>
          </a:p>
        </p:txBody>
      </p:sp>
      <p:sp>
        <p:nvSpPr>
          <p:cNvPr id="32" name="Text 25"/>
          <p:cNvSpPr/>
          <p:nvPr/>
        </p:nvSpPr>
        <p:spPr>
          <a:xfrm>
            <a:off x="4343400" y="4169664"/>
            <a:ext cx="4343400" cy="73152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Expedite request, alternate-vendor RFQ, follow-up scheduling. No outward action without approval.</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2B33"/>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nobody else will build: memory</a:t>
            </a:r>
            <a:endParaRPr lang="en-US" sz="30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indent="0" marL="0">
              <a:buNone/>
            </a:pPr>
            <a:r>
              <a:rPr lang="en-US" sz="1450" dirty="0">
                <a:solidFill>
                  <a:srgbClr val="94A3B8"/>
                </a:solidFill>
                <a:latin typeface="Arial" pitchFamily="34" charset="0"/>
                <a:ea typeface="Arial" pitchFamily="34" charset="-122"/>
                <a:cs typeface="Arial" pitchFamily="34" charset="-120"/>
              </a:rPr>
              <a:t>Every resolved disruption makes the next one cheaper. Grounded in research published February 2026.</a:t>
            </a:r>
            <a:endParaRPr lang="en-US" sz="1450" dirty="0"/>
          </a:p>
        </p:txBody>
      </p:sp>
      <p:sp>
        <p:nvSpPr>
          <p:cNvPr id="4" name="Shape 2"/>
          <p:cNvSpPr/>
          <p:nvPr/>
        </p:nvSpPr>
        <p:spPr>
          <a:xfrm>
            <a:off x="457200" y="1463040"/>
            <a:ext cx="3977640" cy="1554480"/>
          </a:xfrm>
          <a:prstGeom prst="roundRect">
            <a:avLst>
              <a:gd name="adj" fmla="val 5294"/>
            </a:avLst>
          </a:prstGeom>
          <a:solidFill>
            <a:srgbClr val="2E3A45"/>
          </a:solidFill>
          <a:ln/>
        </p:spPr>
      </p:sp>
      <p:pic>
        <p:nvPicPr>
          <p:cNvPr id="5" name="Image 0" descr="preencoded.png">    </p:cNvPr>
          <p:cNvPicPr>
            <a:picLocks noChangeAspect="1"/>
          </p:cNvPicPr>
          <p:nvPr/>
        </p:nvPicPr>
        <p:blipFill>
          <a:blip r:embed="rId1"/>
          <a:stretch>
            <a:fillRect/>
          </a:stretch>
        </p:blipFill>
        <p:spPr>
          <a:xfrm>
            <a:off x="658368" y="1627632"/>
            <a:ext cx="384048" cy="384048"/>
          </a:xfrm>
          <a:prstGeom prst="rect">
            <a:avLst/>
          </a:prstGeom>
        </p:spPr>
      </p:pic>
      <p:sp>
        <p:nvSpPr>
          <p:cNvPr id="6" name="Text 3"/>
          <p:cNvSpPr/>
          <p:nvPr/>
        </p:nvSpPr>
        <p:spPr>
          <a:xfrm>
            <a:off x="1188720" y="1627632"/>
            <a:ext cx="3017520"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Episodic memory</a:t>
            </a:r>
            <a:endParaRPr lang="en-US" sz="1500" dirty="0"/>
          </a:p>
        </p:txBody>
      </p:sp>
      <p:sp>
        <p:nvSpPr>
          <p:cNvPr id="7" name="Text 4"/>
          <p:cNvSpPr/>
          <p:nvPr/>
        </p:nvSpPr>
        <p:spPr>
          <a:xfrm>
            <a:off x="658368" y="2084832"/>
            <a:ext cx="3566160" cy="868680"/>
          </a:xfrm>
          <a:prstGeom prst="rect">
            <a:avLst/>
          </a:prstGeom>
          <a:noFill/>
          <a:ln/>
        </p:spPr>
        <p:txBody>
          <a:bodyPr wrap="square" lIns="0" tIns="0" rIns="0" bIns="0" rtlCol="0" anchor="ctr"/>
          <a:lstStyle/>
          <a:p>
            <a:pPr indent="0" marL="0">
              <a:buNone/>
            </a:pPr>
            <a:r>
              <a:rPr lang="en-US" sz="1150" dirty="0">
                <a:solidFill>
                  <a:srgbClr val="CBD5E1"/>
                </a:solidFill>
                <a:latin typeface="Arial" pitchFamily="34" charset="0"/>
                <a:ea typeface="Arial" pitchFamily="34" charset="-122"/>
                <a:cs typeface="Arial" pitchFamily="34" charset="-120"/>
              </a:rPr>
              <a:t>Structured disruption cases: material, vendor, cause, action, outcome, cost. Retrieved by structured similarity — not just embedding distance.</a:t>
            </a:r>
            <a:endParaRPr lang="en-US" sz="1150" dirty="0"/>
          </a:p>
        </p:txBody>
      </p:sp>
      <p:sp>
        <p:nvSpPr>
          <p:cNvPr id="8" name="Shape 5"/>
          <p:cNvSpPr/>
          <p:nvPr/>
        </p:nvSpPr>
        <p:spPr>
          <a:xfrm>
            <a:off x="457200" y="3154680"/>
            <a:ext cx="3977640" cy="1554480"/>
          </a:xfrm>
          <a:prstGeom prst="roundRect">
            <a:avLst>
              <a:gd name="adj" fmla="val 5294"/>
            </a:avLst>
          </a:prstGeom>
          <a:solidFill>
            <a:srgbClr val="2E3A45"/>
          </a:solidFill>
          <a:ln/>
        </p:spPr>
      </p:sp>
      <p:pic>
        <p:nvPicPr>
          <p:cNvPr id="9" name="Image 1" descr="preencoded.png">    </p:cNvPr>
          <p:cNvPicPr>
            <a:picLocks noChangeAspect="1"/>
          </p:cNvPicPr>
          <p:nvPr/>
        </p:nvPicPr>
        <p:blipFill>
          <a:blip r:embed="rId2"/>
          <a:stretch>
            <a:fillRect/>
          </a:stretch>
        </p:blipFill>
        <p:spPr>
          <a:xfrm>
            <a:off x="658368" y="3319272"/>
            <a:ext cx="384048" cy="384048"/>
          </a:xfrm>
          <a:prstGeom prst="rect">
            <a:avLst/>
          </a:prstGeom>
        </p:spPr>
      </p:pic>
      <p:sp>
        <p:nvSpPr>
          <p:cNvPr id="10" name="Text 6"/>
          <p:cNvSpPr/>
          <p:nvPr/>
        </p:nvSpPr>
        <p:spPr>
          <a:xfrm>
            <a:off x="1188720" y="3319272"/>
            <a:ext cx="3017520"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Outcome memory</a:t>
            </a:r>
            <a:endParaRPr lang="en-US" sz="1500" dirty="0"/>
          </a:p>
        </p:txBody>
      </p:sp>
      <p:sp>
        <p:nvSpPr>
          <p:cNvPr id="11" name="Text 7"/>
          <p:cNvSpPr/>
          <p:nvPr/>
        </p:nvSpPr>
        <p:spPr>
          <a:xfrm>
            <a:off x="658368" y="3776472"/>
            <a:ext cx="3566160" cy="868680"/>
          </a:xfrm>
          <a:prstGeom prst="rect">
            <a:avLst/>
          </a:prstGeom>
          <a:noFill/>
          <a:ln/>
        </p:spPr>
        <p:txBody>
          <a:bodyPr wrap="square" lIns="0" tIns="0" rIns="0" bIns="0" rtlCol="0" anchor="ctr"/>
          <a:lstStyle/>
          <a:p>
            <a:pPr indent="0" marL="0">
              <a:buNone/>
            </a:pPr>
            <a:r>
              <a:rPr lang="en-US" sz="1150" dirty="0">
                <a:solidFill>
                  <a:srgbClr val="CBD5E1"/>
                </a:solidFill>
                <a:latin typeface="Arial" pitchFamily="34" charset="0"/>
                <a:ea typeface="Arial" pitchFamily="34" charset="-122"/>
                <a:cs typeface="Arial" pitchFamily="34" charset="-120"/>
              </a:rPr>
              <a:t>What works, per vendor and per committee. Outcomes need human confirmation before commit — no memory poisoning.</a:t>
            </a:r>
            <a:endParaRPr lang="en-US" sz="1150" dirty="0"/>
          </a:p>
        </p:txBody>
      </p:sp>
      <p:sp>
        <p:nvSpPr>
          <p:cNvPr id="12" name="Shape 8"/>
          <p:cNvSpPr/>
          <p:nvPr/>
        </p:nvSpPr>
        <p:spPr>
          <a:xfrm>
            <a:off x="4709160" y="1463040"/>
            <a:ext cx="3977640" cy="3246120"/>
          </a:xfrm>
          <a:prstGeom prst="roundRect">
            <a:avLst>
              <a:gd name="adj" fmla="val 2535"/>
            </a:avLst>
          </a:prstGeom>
          <a:solidFill>
            <a:srgbClr val="FFFFFF"/>
          </a:solidFill>
          <a:ln/>
          <a:effectLst>
            <a:outerShdw sx="100000" sy="100000" kx="0" ky="0" algn="bl" rotWithShape="0" blurRad="88900" dist="25400" dir="2700000">
              <a:srgbClr val="000000">
                <a:alpha val="13000"/>
              </a:srgbClr>
            </a:outerShdw>
          </a:effectLst>
        </p:spPr>
      </p:sp>
      <p:sp>
        <p:nvSpPr>
          <p:cNvPr id="13" name="Text 9"/>
          <p:cNvSpPr/>
          <p:nvPr/>
        </p:nvSpPr>
        <p:spPr>
          <a:xfrm>
            <a:off x="4937760" y="1627632"/>
            <a:ext cx="3520440" cy="292608"/>
          </a:xfrm>
          <a:prstGeom prst="rect">
            <a:avLst/>
          </a:prstGeom>
          <a:noFill/>
          <a:ln/>
        </p:spPr>
        <p:txBody>
          <a:bodyPr wrap="square" lIns="0" tIns="0" rIns="0" bIns="0" rtlCol="0" anchor="ctr"/>
          <a:lstStyle/>
          <a:p>
            <a:pPr indent="0" marL="0">
              <a:buNone/>
            </a:pPr>
            <a:r>
              <a:rPr lang="en-US" sz="1100" b="1" spc="200" kern="0" dirty="0">
                <a:solidFill>
                  <a:srgbClr val="B45309"/>
                </a:solidFill>
                <a:latin typeface="Arial" pitchFamily="34" charset="0"/>
                <a:ea typeface="Arial" pitchFamily="34" charset="-122"/>
                <a:cs typeface="Arial" pitchFamily="34" charset="-120"/>
              </a:rPr>
              <a:t>AGENT RECALL — LIVE EXAMPLE</a:t>
            </a:r>
            <a:endParaRPr lang="en-US" sz="1100" dirty="0"/>
          </a:p>
        </p:txBody>
      </p:sp>
      <p:sp>
        <p:nvSpPr>
          <p:cNvPr id="14" name="Text 10"/>
          <p:cNvSpPr/>
          <p:nvPr/>
        </p:nvSpPr>
        <p:spPr>
          <a:xfrm>
            <a:off x="4937760" y="1938528"/>
            <a:ext cx="3520440" cy="1005840"/>
          </a:xfrm>
          <a:prstGeom prst="rect">
            <a:avLst/>
          </a:prstGeom>
          <a:noFill/>
          <a:ln/>
        </p:spPr>
        <p:txBody>
          <a:bodyPr wrap="square" lIns="0" tIns="0" rIns="0" bIns="0" rtlCol="0" anchor="ctr"/>
          <a:lstStyle/>
          <a:p>
            <a:pPr indent="0" marL="0">
              <a:buNone/>
            </a:pPr>
            <a:r>
              <a:rPr lang="en-US" sz="1250" b="1" dirty="0">
                <a:solidFill>
                  <a:srgbClr val="1E293B"/>
                </a:solidFill>
                <a:latin typeface="Arial" pitchFamily="34" charset="0"/>
                <a:ea typeface="Arial" pitchFamily="34" charset="-122"/>
                <a:cs typeface="Arial" pitchFamily="34" charset="-120"/>
              </a:rPr>
              <a:t>New disruption: </a:t>
            </a:r>
            <a:pPr indent="0" marL="0">
              <a:buNone/>
            </a:pPr>
            <a:r>
              <a:rPr lang="en-US" sz="1250" dirty="0">
                <a:solidFill>
                  <a:srgbClr val="1E293B"/>
                </a:solidFill>
                <a:latin typeface="Arial" pitchFamily="34" charset="0"/>
                <a:ea typeface="Arial" pitchFamily="34" charset="-122"/>
                <a:cs typeface="Arial" pitchFamily="34" charset="-120"/>
              </a:rPr>
              <a:t>rebar, Vendor A, ship-date slip, critical path.</a:t>
            </a:r>
            <a:endParaRPr lang="en-US" sz="1250" dirty="0"/>
          </a:p>
          <a:p>
            <a:pPr indent="0" marL="0">
              <a:buNone/>
            </a:pPr>
            <a:r>
              <a:rPr lang="en-US" sz="1250" dirty="0">
                <a:solidFill>
                  <a:srgbClr val="1E293B"/>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1E293B"/>
                </a:solidFill>
                <a:latin typeface="Arial" pitchFamily="34" charset="0"/>
                <a:ea typeface="Arial" pitchFamily="34" charset="-122"/>
                <a:cs typeface="Arial" pitchFamily="34" charset="-120"/>
              </a:rPr>
              <a:t>3 similar cases found:</a:t>
            </a:r>
            <a:endParaRPr lang="en-US" sz="1250" dirty="0"/>
          </a:p>
        </p:txBody>
      </p:sp>
      <p:sp>
        <p:nvSpPr>
          <p:cNvPr id="15" name="Text 11"/>
          <p:cNvSpPr/>
          <p:nvPr/>
        </p:nvSpPr>
        <p:spPr>
          <a:xfrm>
            <a:off x="4937760" y="2880360"/>
            <a:ext cx="3520440" cy="137160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E293B"/>
                </a:solidFill>
                <a:latin typeface="Arial" pitchFamily="34" charset="0"/>
                <a:ea typeface="Arial" pitchFamily="34" charset="-122"/>
                <a:cs typeface="Arial" pitchFamily="34" charset="-120"/>
              </a:rPr>
              <a:t>Mar 2026 — cement, same cause. Expedite via Vendor B: resolved in 4 days, +4% cost.</a:t>
            </a:r>
            <a:endParaRPr lang="en-US" sz="1150" dirty="0"/>
          </a:p>
          <a:p>
            <a:pPr marL="342900" indent="-342900">
              <a:spcAft>
                <a:spcPts val="600"/>
              </a:spcAft>
              <a:buSzPct val="100000"/>
              <a:buChar char="•"/>
            </a:pPr>
            <a:r>
              <a:rPr lang="en-US" sz="1150" dirty="0">
                <a:solidFill>
                  <a:srgbClr val="1E293B"/>
                </a:solidFill>
                <a:latin typeface="Arial" pitchFamily="34" charset="0"/>
                <a:ea typeface="Arial" pitchFamily="34" charset="-122"/>
                <a:cs typeface="Arial" pitchFamily="34" charset="-120"/>
              </a:rPr>
              <a:t>Jan 2026 — structural steel. Partial-shipment split worked; full wait did not.</a:t>
            </a:r>
            <a:endParaRPr lang="en-US" sz="1150" dirty="0"/>
          </a:p>
          <a:p>
            <a:pPr marL="342900" indent="-342900">
              <a:spcAft>
                <a:spcPts val="600"/>
              </a:spcAft>
              <a:buSzPct val="100000"/>
              <a:buChar char="•"/>
            </a:pPr>
            <a:r>
              <a:rPr lang="en-US" sz="1150" dirty="0">
                <a:solidFill>
                  <a:srgbClr val="1E293B"/>
                </a:solidFill>
                <a:latin typeface="Arial" pitchFamily="34" charset="0"/>
                <a:ea typeface="Arial" pitchFamily="34" charset="-122"/>
                <a:cs typeface="Arial" pitchFamily="34" charset="-120"/>
              </a:rPr>
              <a:t>Vendor A history: ignores email, responds to calls within a day.</a:t>
            </a:r>
            <a:endParaRPr lang="en-US" sz="1150" dirty="0"/>
          </a:p>
        </p:txBody>
      </p:sp>
      <p:sp>
        <p:nvSpPr>
          <p:cNvPr id="16" name="Text 12"/>
          <p:cNvSpPr/>
          <p:nvPr/>
        </p:nvSpPr>
        <p:spPr>
          <a:xfrm>
            <a:off x="4937760" y="4315968"/>
            <a:ext cx="3520440" cy="320040"/>
          </a:xfrm>
          <a:prstGeom prst="rect">
            <a:avLst/>
          </a:prstGeom>
          <a:noFill/>
          <a:ln/>
        </p:spPr>
        <p:txBody>
          <a:bodyPr wrap="square" lIns="0" tIns="0" rIns="0" bIns="0" rtlCol="0" anchor="ctr"/>
          <a:lstStyle/>
          <a:p>
            <a:pPr indent="0" marL="0">
              <a:buNone/>
            </a:pPr>
            <a:r>
              <a:rPr lang="en-US" sz="1150" i="1" dirty="0">
                <a:solidFill>
                  <a:srgbClr val="B45309"/>
                </a:solidFill>
                <a:latin typeface="Arial" pitchFamily="34" charset="0"/>
                <a:ea typeface="Arial" pitchFamily="34" charset="-122"/>
                <a:cs typeface="Arial" pitchFamily="34" charset="-120"/>
              </a:rPr>
              <a:t>Recommendation ranked by what actually worked.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Grounded in 2023–2026 research</a:t>
            </a:r>
            <a:endParaRPr lang="en-US" sz="3000" dirty="0"/>
          </a:p>
        </p:txBody>
      </p:sp>
      <p:sp>
        <p:nvSpPr>
          <p:cNvPr id="3" name="Shape 1"/>
          <p:cNvSpPr/>
          <p:nvPr/>
        </p:nvSpPr>
        <p:spPr>
          <a:xfrm>
            <a:off x="457200" y="1078992"/>
            <a:ext cx="457200" cy="457200"/>
          </a:xfrm>
          <a:prstGeom prst="ellipse">
            <a:avLst/>
          </a:prstGeom>
          <a:solidFill>
            <a:srgbClr val="FEF3C7"/>
          </a:solidFill>
          <a:ln/>
        </p:spPr>
      </p:sp>
      <p:pic>
        <p:nvPicPr>
          <p:cNvPr id="4" name="Image 0" descr="preencoded.png">    </p:cNvPr>
          <p:cNvPicPr>
            <a:picLocks noChangeAspect="1"/>
          </p:cNvPicPr>
          <p:nvPr/>
        </p:nvPicPr>
        <p:blipFill>
          <a:blip r:embed="rId1"/>
          <a:stretch>
            <a:fillRect/>
          </a:stretch>
        </p:blipFill>
        <p:spPr>
          <a:xfrm>
            <a:off x="566928" y="1188720"/>
            <a:ext cx="237744" cy="237744"/>
          </a:xfrm>
          <a:prstGeom prst="rect">
            <a:avLst/>
          </a:prstGeom>
        </p:spPr>
      </p:pic>
      <p:sp>
        <p:nvSpPr>
          <p:cNvPr id="5" name="Text 2"/>
          <p:cNvSpPr/>
          <p:nvPr/>
        </p:nvSpPr>
        <p:spPr>
          <a:xfrm>
            <a:off x="1097280" y="1024128"/>
            <a:ext cx="2880360" cy="603504"/>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Zero-shot quantile forecasting</a:t>
            </a:r>
            <a:endParaRPr lang="en-US" sz="1450" dirty="0"/>
          </a:p>
        </p:txBody>
      </p:sp>
      <p:sp>
        <p:nvSpPr>
          <p:cNvPr id="6" name="Text 3"/>
          <p:cNvSpPr/>
          <p:nvPr/>
        </p:nvSpPr>
        <p:spPr>
          <a:xfrm>
            <a:off x="4114800" y="1024128"/>
            <a:ext cx="4572000" cy="73152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Chronos-2 (Amazon, 2025) · TimesFM 2.5 (Google) — open-weights, Apache-2.0</a:t>
            </a:r>
            <a:endParaRPr lang="en-US" sz="1150" dirty="0"/>
          </a:p>
        </p:txBody>
      </p:sp>
      <p:sp>
        <p:nvSpPr>
          <p:cNvPr id="7" name="Shape 4"/>
          <p:cNvSpPr/>
          <p:nvPr/>
        </p:nvSpPr>
        <p:spPr>
          <a:xfrm>
            <a:off x="457200" y="1865376"/>
            <a:ext cx="457200" cy="457200"/>
          </a:xfrm>
          <a:prstGeom prst="ellipse">
            <a:avLst/>
          </a:prstGeom>
          <a:solidFill>
            <a:srgbClr val="FEF3C7"/>
          </a:solidFill>
          <a:ln/>
        </p:spPr>
      </p:sp>
      <p:pic>
        <p:nvPicPr>
          <p:cNvPr id="8" name="Image 1" descr="preencoded.png">    </p:cNvPr>
          <p:cNvPicPr>
            <a:picLocks noChangeAspect="1"/>
          </p:cNvPicPr>
          <p:nvPr/>
        </p:nvPicPr>
        <p:blipFill>
          <a:blip r:embed="rId2"/>
          <a:stretch>
            <a:fillRect/>
          </a:stretch>
        </p:blipFill>
        <p:spPr>
          <a:xfrm>
            <a:off x="566928" y="1975104"/>
            <a:ext cx="237744" cy="237744"/>
          </a:xfrm>
          <a:prstGeom prst="rect">
            <a:avLst/>
          </a:prstGeom>
        </p:spPr>
      </p:pic>
      <p:sp>
        <p:nvSpPr>
          <p:cNvPr id="9" name="Text 5"/>
          <p:cNvSpPr/>
          <p:nvPr/>
        </p:nvSpPr>
        <p:spPr>
          <a:xfrm>
            <a:off x="1097280" y="1810512"/>
            <a:ext cx="2880360" cy="603504"/>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Why an explicit shock layer</a:t>
            </a:r>
            <a:endParaRPr lang="en-US" sz="1450" dirty="0"/>
          </a:p>
        </p:txBody>
      </p:sp>
      <p:sp>
        <p:nvSpPr>
          <p:cNvPr id="10" name="Text 6"/>
          <p:cNvSpPr/>
          <p:nvPr/>
        </p:nvSpPr>
        <p:spPr>
          <a:xfrm>
            <a:off x="4114800" y="1810512"/>
            <a:ext cx="4572000" cy="73152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TSFMs degrade under covariate-driven regime change (TA-PFN, 2026) — we design for the documented failure mode</a:t>
            </a:r>
            <a:endParaRPr lang="en-US" sz="1150" dirty="0"/>
          </a:p>
        </p:txBody>
      </p:sp>
      <p:sp>
        <p:nvSpPr>
          <p:cNvPr id="11" name="Shape 7"/>
          <p:cNvSpPr/>
          <p:nvPr/>
        </p:nvSpPr>
        <p:spPr>
          <a:xfrm>
            <a:off x="457200" y="2651760"/>
            <a:ext cx="457200" cy="457200"/>
          </a:xfrm>
          <a:prstGeom prst="ellipse">
            <a:avLst/>
          </a:prstGeom>
          <a:solidFill>
            <a:srgbClr val="FEF3C7"/>
          </a:solidFill>
          <a:ln/>
        </p:spPr>
      </p:sp>
      <p:pic>
        <p:nvPicPr>
          <p:cNvPr id="12" name="Image 2" descr="preencoded.png">    </p:cNvPr>
          <p:cNvPicPr>
            <a:picLocks noChangeAspect="1"/>
          </p:cNvPicPr>
          <p:nvPr/>
        </p:nvPicPr>
        <p:blipFill>
          <a:blip r:embed="rId3"/>
          <a:stretch>
            <a:fillRect/>
          </a:stretch>
        </p:blipFill>
        <p:spPr>
          <a:xfrm>
            <a:off x="566928" y="2761488"/>
            <a:ext cx="237744" cy="237744"/>
          </a:xfrm>
          <a:prstGeom prst="rect">
            <a:avLst/>
          </a:prstGeom>
        </p:spPr>
      </p:pic>
      <p:sp>
        <p:nvSpPr>
          <p:cNvPr id="13" name="Text 8"/>
          <p:cNvSpPr/>
          <p:nvPr/>
        </p:nvSpPr>
        <p:spPr>
          <a:xfrm>
            <a:off x="1097280" y="2596896"/>
            <a:ext cx="2880360" cy="603504"/>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LLM + optimizer separation</a:t>
            </a:r>
            <a:endParaRPr lang="en-US" sz="1450" dirty="0"/>
          </a:p>
        </p:txBody>
      </p:sp>
      <p:sp>
        <p:nvSpPr>
          <p:cNvPr id="14" name="Text 9"/>
          <p:cNvSpPr/>
          <p:nvPr/>
        </p:nvSpPr>
        <p:spPr>
          <a:xfrm>
            <a:off x="4114800" y="2596896"/>
            <a:ext cx="4572000" cy="73152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OptiGuide — LLMs for Supply Chain Optimization (Microsoft Research, 2023)</a:t>
            </a:r>
            <a:endParaRPr lang="en-US" sz="1150" dirty="0"/>
          </a:p>
        </p:txBody>
      </p:sp>
      <p:sp>
        <p:nvSpPr>
          <p:cNvPr id="15" name="Shape 10"/>
          <p:cNvSpPr/>
          <p:nvPr/>
        </p:nvSpPr>
        <p:spPr>
          <a:xfrm>
            <a:off x="457200" y="3438144"/>
            <a:ext cx="457200" cy="457200"/>
          </a:xfrm>
          <a:prstGeom prst="ellipse">
            <a:avLst/>
          </a:prstGeom>
          <a:solidFill>
            <a:srgbClr val="FEF3C7"/>
          </a:solidFill>
          <a:ln/>
        </p:spPr>
      </p:sp>
      <p:pic>
        <p:nvPicPr>
          <p:cNvPr id="16" name="Image 3" descr="preencoded.png">    </p:cNvPr>
          <p:cNvPicPr>
            <a:picLocks noChangeAspect="1"/>
          </p:cNvPicPr>
          <p:nvPr/>
        </p:nvPicPr>
        <p:blipFill>
          <a:blip r:embed="rId4"/>
          <a:stretch>
            <a:fillRect/>
          </a:stretch>
        </p:blipFill>
        <p:spPr>
          <a:xfrm>
            <a:off x="566928" y="3547872"/>
            <a:ext cx="237744" cy="237744"/>
          </a:xfrm>
          <a:prstGeom prst="rect">
            <a:avLst/>
          </a:prstGeom>
        </p:spPr>
      </p:pic>
      <p:sp>
        <p:nvSpPr>
          <p:cNvPr id="17" name="Text 11"/>
          <p:cNvSpPr/>
          <p:nvPr/>
        </p:nvSpPr>
        <p:spPr>
          <a:xfrm>
            <a:off x="1097280" y="3383280"/>
            <a:ext cx="2880360" cy="603504"/>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Memory-retrieval agents</a:t>
            </a:r>
            <a:endParaRPr lang="en-US" sz="1450" dirty="0"/>
          </a:p>
        </p:txBody>
      </p:sp>
      <p:sp>
        <p:nvSpPr>
          <p:cNvPr id="18" name="Text 12"/>
          <p:cNvSpPr/>
          <p:nvPr/>
        </p:nvSpPr>
        <p:spPr>
          <a:xfrm>
            <a:off x="4114800" y="3383280"/>
            <a:ext cx="4572000" cy="73152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Supply-chain agents retrieving past experiences decide better (Yoshizato et al., Feb 2026) · InvAgent (2024) · Hindsight (2025)</a:t>
            </a:r>
            <a:endParaRPr lang="en-US" sz="1150" dirty="0"/>
          </a:p>
        </p:txBody>
      </p:sp>
      <p:sp>
        <p:nvSpPr>
          <p:cNvPr id="19" name="Shape 13"/>
          <p:cNvSpPr/>
          <p:nvPr/>
        </p:nvSpPr>
        <p:spPr>
          <a:xfrm>
            <a:off x="457200" y="4224528"/>
            <a:ext cx="457200" cy="457200"/>
          </a:xfrm>
          <a:prstGeom prst="ellipse">
            <a:avLst/>
          </a:prstGeom>
          <a:solidFill>
            <a:srgbClr val="FEF3C7"/>
          </a:solidFill>
          <a:ln/>
        </p:spPr>
      </p:sp>
      <p:pic>
        <p:nvPicPr>
          <p:cNvPr id="20" name="Image 4" descr="preencoded.png">    </p:cNvPr>
          <p:cNvPicPr>
            <a:picLocks noChangeAspect="1"/>
          </p:cNvPicPr>
          <p:nvPr/>
        </p:nvPicPr>
        <p:blipFill>
          <a:blip r:embed="rId5"/>
          <a:stretch>
            <a:fillRect/>
          </a:stretch>
        </p:blipFill>
        <p:spPr>
          <a:xfrm>
            <a:off x="566928" y="4334256"/>
            <a:ext cx="237744" cy="237744"/>
          </a:xfrm>
          <a:prstGeom prst="rect">
            <a:avLst/>
          </a:prstGeom>
        </p:spPr>
      </p:pic>
      <p:sp>
        <p:nvSpPr>
          <p:cNvPr id="21" name="Text 14"/>
          <p:cNvSpPr/>
          <p:nvPr/>
        </p:nvSpPr>
        <p:spPr>
          <a:xfrm>
            <a:off x="1097280" y="4169664"/>
            <a:ext cx="2880360" cy="603504"/>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Known agent failure modes</a:t>
            </a:r>
            <a:endParaRPr lang="en-US" sz="1450" dirty="0"/>
          </a:p>
        </p:txBody>
      </p:sp>
      <p:sp>
        <p:nvSpPr>
          <p:cNvPr id="22" name="Text 15"/>
          <p:cNvSpPr/>
          <p:nvPr/>
        </p:nvSpPr>
        <p:spPr>
          <a:xfrm>
            <a:off x="4114800" y="4169664"/>
            <a:ext cx="4572000" cy="73152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SupChain-Bench (2026): long-horizon orchestration fails → short structured workflows + human gate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What will be running by July 31</a:t>
            </a:r>
            <a:endParaRPr lang="en-US" sz="3000" dirty="0"/>
          </a:p>
        </p:txBody>
      </p:sp>
      <p:sp>
        <p:nvSpPr>
          <p:cNvPr id="3" name="Shape 1"/>
          <p:cNvSpPr/>
          <p:nvPr/>
        </p:nvSpPr>
        <p:spPr>
          <a:xfrm>
            <a:off x="457200" y="1051560"/>
            <a:ext cx="2651760" cy="2514600"/>
          </a:xfrm>
          <a:prstGeom prst="roundRect">
            <a:avLst>
              <a:gd name="adj" fmla="val 3273"/>
            </a:avLst>
          </a:prstGeom>
          <a:solidFill>
            <a:srgbClr val="F5F7FA"/>
          </a:solidFill>
          <a:ln/>
          <a:effectLst>
            <a:outerShdw sx="100000" sy="100000" kx="0" ky="0" algn="bl" rotWithShape="0" blurRad="88900" dist="25400" dir="2700000">
              <a:srgbClr val="000000">
                <a:alpha val="13000"/>
              </a:srgbClr>
            </a:outerShdw>
          </a:effectLst>
        </p:spPr>
      </p:sp>
      <p:sp>
        <p:nvSpPr>
          <p:cNvPr id="4" name="Text 2"/>
          <p:cNvSpPr/>
          <p:nvPr/>
        </p:nvSpPr>
        <p:spPr>
          <a:xfrm>
            <a:off x="640080" y="1207008"/>
            <a:ext cx="2286000" cy="365760"/>
          </a:xfrm>
          <a:prstGeom prst="rect">
            <a:avLst/>
          </a:prstGeom>
          <a:noFill/>
          <a:ln/>
        </p:spPr>
        <p:txBody>
          <a:bodyPr wrap="square" lIns="0" tIns="0" rIns="0" bIns="0" rtlCol="0" anchor="ctr"/>
          <a:lstStyle/>
          <a:p>
            <a:pPr indent="0" marL="0">
              <a:buNone/>
            </a:pPr>
            <a:r>
              <a:rPr lang="en-US" sz="1350" b="1" dirty="0">
                <a:solidFill>
                  <a:srgbClr val="B45309"/>
                </a:solidFill>
                <a:latin typeface="Arial" pitchFamily="34" charset="0"/>
                <a:ea typeface="Arial" pitchFamily="34" charset="-122"/>
                <a:cs typeface="Arial" pitchFamily="34" charset="-120"/>
              </a:rPr>
              <a:t>Week 1  (Jul 14–20)</a:t>
            </a:r>
            <a:endParaRPr lang="en-US" sz="1350" dirty="0"/>
          </a:p>
        </p:txBody>
      </p:sp>
      <p:sp>
        <p:nvSpPr>
          <p:cNvPr id="5" name="Text 3"/>
          <p:cNvSpPr/>
          <p:nvPr/>
        </p:nvSpPr>
        <p:spPr>
          <a:xfrm>
            <a:off x="640080" y="1645920"/>
            <a:ext cx="2331720" cy="18288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E293B"/>
                </a:solidFill>
                <a:latin typeface="Arial" pitchFamily="34" charset="0"/>
                <a:ea typeface="Arial" pitchFamily="34" charset="-122"/>
                <a:cs typeface="Arial" pitchFamily="34" charset="-120"/>
              </a:rPr>
              <a:t>Multi-site event simulator, methodology disclosed</a:t>
            </a:r>
            <a:endParaRPr lang="en-US" sz="1150" dirty="0"/>
          </a:p>
          <a:p>
            <a:pPr marL="342900" indent="-342900">
              <a:spcAft>
                <a:spcPts val="800"/>
              </a:spcAft>
              <a:buSzPct val="100000"/>
              <a:buChar char="•"/>
            </a:pPr>
            <a:r>
              <a:rPr lang="en-US" sz="1150" dirty="0">
                <a:solidFill>
                  <a:srgbClr val="1E293B"/>
                </a:solidFill>
                <a:latin typeface="Arial" pitchFamily="34" charset="0"/>
                <a:ea typeface="Arial" pitchFamily="34" charset="-122"/>
                <a:cs typeface="Arial" pitchFamily="34" charset="-120"/>
              </a:rPr>
              <a:t>Chronos-2 / TimesFM pipeline + conformal calibration</a:t>
            </a:r>
            <a:endParaRPr lang="en-US" sz="1150" dirty="0"/>
          </a:p>
          <a:p>
            <a:pPr marL="342900" indent="-342900">
              <a:spcAft>
                <a:spcPts val="800"/>
              </a:spcAft>
              <a:buSzPct val="100000"/>
              <a:buChar char="•"/>
            </a:pPr>
            <a:r>
              <a:rPr lang="en-US" sz="1150" dirty="0">
                <a:solidFill>
                  <a:srgbClr val="1E293B"/>
                </a:solidFill>
                <a:latin typeface="Arial" pitchFamily="34" charset="0"/>
                <a:ea typeface="Arial" pitchFamily="34" charset="-122"/>
                <a:cs typeface="Arial" pitchFamily="34" charset="-120"/>
              </a:rPr>
              <a:t>Document corpus: POs, contracts, schedules</a:t>
            </a:r>
            <a:endParaRPr lang="en-US" sz="1150" dirty="0"/>
          </a:p>
        </p:txBody>
      </p:sp>
      <p:sp>
        <p:nvSpPr>
          <p:cNvPr id="6" name="Shape 4"/>
          <p:cNvSpPr/>
          <p:nvPr/>
        </p:nvSpPr>
        <p:spPr>
          <a:xfrm>
            <a:off x="3319272" y="1051560"/>
            <a:ext cx="2651760" cy="2514600"/>
          </a:xfrm>
          <a:prstGeom prst="roundRect">
            <a:avLst>
              <a:gd name="adj" fmla="val 3273"/>
            </a:avLst>
          </a:prstGeom>
          <a:solidFill>
            <a:srgbClr val="F5F7FA"/>
          </a:solidFill>
          <a:ln/>
          <a:effectLst>
            <a:outerShdw sx="100000" sy="100000" kx="0" ky="0" algn="bl" rotWithShape="0" blurRad="88900" dist="25400" dir="2700000">
              <a:srgbClr val="000000">
                <a:alpha val="13000"/>
              </a:srgbClr>
            </a:outerShdw>
          </a:effectLst>
        </p:spPr>
      </p:sp>
      <p:sp>
        <p:nvSpPr>
          <p:cNvPr id="7" name="Text 5"/>
          <p:cNvSpPr/>
          <p:nvPr/>
        </p:nvSpPr>
        <p:spPr>
          <a:xfrm>
            <a:off x="3502152" y="1207008"/>
            <a:ext cx="2286000" cy="365760"/>
          </a:xfrm>
          <a:prstGeom prst="rect">
            <a:avLst/>
          </a:prstGeom>
          <a:noFill/>
          <a:ln/>
        </p:spPr>
        <p:txBody>
          <a:bodyPr wrap="square" lIns="0" tIns="0" rIns="0" bIns="0" rtlCol="0" anchor="ctr"/>
          <a:lstStyle/>
          <a:p>
            <a:pPr indent="0" marL="0">
              <a:buNone/>
            </a:pPr>
            <a:r>
              <a:rPr lang="en-US" sz="1350" b="1" dirty="0">
                <a:solidFill>
                  <a:srgbClr val="B45309"/>
                </a:solidFill>
                <a:latin typeface="Arial" pitchFamily="34" charset="0"/>
                <a:ea typeface="Arial" pitchFamily="34" charset="-122"/>
                <a:cs typeface="Arial" pitchFamily="34" charset="-120"/>
              </a:rPr>
              <a:t>Week 2  (Jul 21–27)</a:t>
            </a:r>
            <a:endParaRPr lang="en-US" sz="1350" dirty="0"/>
          </a:p>
        </p:txBody>
      </p:sp>
      <p:sp>
        <p:nvSpPr>
          <p:cNvPr id="8" name="Text 6"/>
          <p:cNvSpPr/>
          <p:nvPr/>
        </p:nvSpPr>
        <p:spPr>
          <a:xfrm>
            <a:off x="3502152" y="1645920"/>
            <a:ext cx="2331720" cy="18288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E293B"/>
                </a:solidFill>
                <a:latin typeface="Arial" pitchFamily="34" charset="0"/>
                <a:ea typeface="Arial" pitchFamily="34" charset="-122"/>
                <a:cs typeface="Arial" pitchFamily="34" charset="-120"/>
              </a:rPr>
              <a:t>Critical-path optimizer + what-if interface</a:t>
            </a:r>
            <a:endParaRPr lang="en-US" sz="1150" dirty="0"/>
          </a:p>
          <a:p>
            <a:pPr marL="342900" indent="-342900">
              <a:spcAft>
                <a:spcPts val="800"/>
              </a:spcAft>
              <a:buSzPct val="100000"/>
              <a:buChar char="•"/>
            </a:pPr>
            <a:r>
              <a:rPr lang="en-US" sz="1150" dirty="0">
                <a:solidFill>
                  <a:srgbClr val="1E293B"/>
                </a:solidFill>
                <a:latin typeface="Arial" pitchFamily="34" charset="0"/>
                <a:ea typeface="Arial" pitchFamily="34" charset="-122"/>
                <a:cs typeface="Arial" pitchFamily="34" charset="-120"/>
              </a:rPr>
              <a:t>Agent with constrained tools + citation verification</a:t>
            </a:r>
            <a:endParaRPr lang="en-US" sz="1150" dirty="0"/>
          </a:p>
          <a:p>
            <a:pPr marL="342900" indent="-342900">
              <a:spcAft>
                <a:spcPts val="800"/>
              </a:spcAft>
              <a:buSzPct val="100000"/>
              <a:buChar char="•"/>
            </a:pPr>
            <a:r>
              <a:rPr lang="en-US" sz="1150" dirty="0">
                <a:solidFill>
                  <a:srgbClr val="1E293B"/>
                </a:solidFill>
                <a:latin typeface="Arial" pitchFamily="34" charset="0"/>
                <a:ea typeface="Arial" pitchFamily="34" charset="-122"/>
                <a:cs typeface="Arial" pitchFamily="34" charset="-120"/>
              </a:rPr>
              <a:t>Episodic &amp; outcome memory with write-back</a:t>
            </a:r>
            <a:endParaRPr lang="en-US" sz="1150" dirty="0"/>
          </a:p>
        </p:txBody>
      </p:sp>
      <p:sp>
        <p:nvSpPr>
          <p:cNvPr id="9" name="Shape 7"/>
          <p:cNvSpPr/>
          <p:nvPr/>
        </p:nvSpPr>
        <p:spPr>
          <a:xfrm>
            <a:off x="6181344" y="1051560"/>
            <a:ext cx="2651760" cy="2514600"/>
          </a:xfrm>
          <a:prstGeom prst="roundRect">
            <a:avLst>
              <a:gd name="adj" fmla="val 3273"/>
            </a:avLst>
          </a:prstGeom>
          <a:solidFill>
            <a:srgbClr val="F5F7FA"/>
          </a:solidFill>
          <a:ln/>
          <a:effectLst>
            <a:outerShdw sx="100000" sy="100000" kx="0" ky="0" algn="bl" rotWithShape="0" blurRad="88900" dist="25400" dir="2700000">
              <a:srgbClr val="000000">
                <a:alpha val="13000"/>
              </a:srgbClr>
            </a:outerShdw>
          </a:effectLst>
        </p:spPr>
      </p:sp>
      <p:sp>
        <p:nvSpPr>
          <p:cNvPr id="10" name="Text 8"/>
          <p:cNvSpPr/>
          <p:nvPr/>
        </p:nvSpPr>
        <p:spPr>
          <a:xfrm>
            <a:off x="6364224" y="1207008"/>
            <a:ext cx="2286000" cy="365760"/>
          </a:xfrm>
          <a:prstGeom prst="rect">
            <a:avLst/>
          </a:prstGeom>
          <a:noFill/>
          <a:ln/>
        </p:spPr>
        <p:txBody>
          <a:bodyPr wrap="square" lIns="0" tIns="0" rIns="0" bIns="0" rtlCol="0" anchor="ctr"/>
          <a:lstStyle/>
          <a:p>
            <a:pPr indent="0" marL="0">
              <a:buNone/>
            </a:pPr>
            <a:r>
              <a:rPr lang="en-US" sz="1350" b="1" dirty="0">
                <a:solidFill>
                  <a:srgbClr val="B45309"/>
                </a:solidFill>
                <a:latin typeface="Arial" pitchFamily="34" charset="0"/>
                <a:ea typeface="Arial" pitchFamily="34" charset="-122"/>
                <a:cs typeface="Arial" pitchFamily="34" charset="-120"/>
              </a:rPr>
              <a:t>Week 3  (Jul 28–31)</a:t>
            </a:r>
            <a:endParaRPr lang="en-US" sz="1350" dirty="0"/>
          </a:p>
        </p:txBody>
      </p:sp>
      <p:sp>
        <p:nvSpPr>
          <p:cNvPr id="11" name="Text 9"/>
          <p:cNvSpPr/>
          <p:nvPr/>
        </p:nvSpPr>
        <p:spPr>
          <a:xfrm>
            <a:off x="6364224" y="1645920"/>
            <a:ext cx="2331720" cy="18288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E293B"/>
                </a:solidFill>
                <a:latin typeface="Arial" pitchFamily="34" charset="0"/>
                <a:ea typeface="Arial" pitchFamily="34" charset="-122"/>
                <a:cs typeface="Arial" pitchFamily="34" charset="-120"/>
              </a:rPr>
              <a:t>Risk-board dashboard + agent action log</a:t>
            </a:r>
            <a:endParaRPr lang="en-US" sz="1150" dirty="0"/>
          </a:p>
          <a:p>
            <a:pPr marL="342900" indent="-342900">
              <a:spcAft>
                <a:spcPts val="800"/>
              </a:spcAft>
              <a:buSzPct val="100000"/>
              <a:buChar char="•"/>
            </a:pPr>
            <a:r>
              <a:rPr lang="en-US" sz="1150" dirty="0">
                <a:solidFill>
                  <a:srgbClr val="1E293B"/>
                </a:solidFill>
                <a:latin typeface="Arial" pitchFamily="34" charset="0"/>
                <a:ea typeface="Arial" pitchFamily="34" charset="-122"/>
                <a:cs typeface="Arial" pitchFamily="34" charset="-120"/>
              </a:rPr>
              <a:t>End-to-end demo of the full loop</a:t>
            </a:r>
            <a:endParaRPr lang="en-US" sz="1150" dirty="0"/>
          </a:p>
          <a:p>
            <a:pPr marL="342900" indent="-342900">
              <a:spcAft>
                <a:spcPts val="800"/>
              </a:spcAft>
              <a:buSzPct val="100000"/>
              <a:buChar char="•"/>
            </a:pPr>
            <a:r>
              <a:rPr lang="en-US" sz="1150" dirty="0">
                <a:solidFill>
                  <a:srgbClr val="1E293B"/>
                </a:solidFill>
                <a:latin typeface="Arial" pitchFamily="34" charset="0"/>
                <a:ea typeface="Arial" pitchFamily="34" charset="-122"/>
                <a:cs typeface="Arial" pitchFamily="34" charset="-120"/>
              </a:rPr>
              <a:t>Evaluation vs seasonal-naive baselines — coverage reported</a:t>
            </a:r>
            <a:endParaRPr lang="en-US" sz="1150" dirty="0"/>
          </a:p>
        </p:txBody>
      </p:sp>
      <p:sp>
        <p:nvSpPr>
          <p:cNvPr id="12" name="Shape 10"/>
          <p:cNvSpPr/>
          <p:nvPr/>
        </p:nvSpPr>
        <p:spPr>
          <a:xfrm>
            <a:off x="457200" y="3794760"/>
            <a:ext cx="8229600" cy="960120"/>
          </a:xfrm>
          <a:prstGeom prst="roundRect">
            <a:avLst>
              <a:gd name="adj" fmla="val 8571"/>
            </a:avLst>
          </a:prstGeom>
          <a:solidFill>
            <a:srgbClr val="FEF3C7"/>
          </a:solidFill>
          <a:ln/>
        </p:spPr>
      </p:sp>
      <p:sp>
        <p:nvSpPr>
          <p:cNvPr id="13" name="Text 11"/>
          <p:cNvSpPr/>
          <p:nvPr/>
        </p:nvSpPr>
        <p:spPr>
          <a:xfrm>
            <a:off x="685800" y="3904488"/>
            <a:ext cx="7772400" cy="7315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Every component has a tested fallback. </a:t>
            </a:r>
            <a:pPr indent="0" marL="0">
              <a:buNone/>
            </a:pPr>
            <a:r>
              <a:rPr lang="en-US" sz="1150" dirty="0">
                <a:solidFill>
                  <a:srgbClr val="1E293B"/>
                </a:solidFill>
                <a:latin typeface="Arial" pitchFamily="34" charset="0"/>
                <a:ea typeface="Arial" pitchFamily="34" charset="-122"/>
                <a:cs typeface="Arial" pitchFamily="34" charset="-120"/>
              </a:rPr>
              <a:t>Statistical quantile baselines if foundation models underperform · scripted workflows if tool-calling is unreliable · curated case library if retrieval is noisy. Honest scope: simulated data, methodology disclosed — Kaya platform access requested for real-data grounding.</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32B33"/>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Four builders, one loop</a:t>
            </a:r>
            <a:endParaRPr lang="en-US" sz="3200" dirty="0"/>
          </a:p>
        </p:txBody>
      </p:sp>
      <p:sp>
        <p:nvSpPr>
          <p:cNvPr id="3" name="Shape 1"/>
          <p:cNvSpPr/>
          <p:nvPr/>
        </p:nvSpPr>
        <p:spPr>
          <a:xfrm>
            <a:off x="457200" y="1188720"/>
            <a:ext cx="3977640" cy="1188720"/>
          </a:xfrm>
          <a:prstGeom prst="roundRect">
            <a:avLst>
              <a:gd name="adj" fmla="val 6923"/>
            </a:avLst>
          </a:prstGeom>
          <a:solidFill>
            <a:srgbClr val="2E3A45"/>
          </a:solidFill>
          <a:ln/>
        </p:spPr>
      </p:sp>
      <p:sp>
        <p:nvSpPr>
          <p:cNvPr id="4" name="Text 2"/>
          <p:cNvSpPr/>
          <p:nvPr/>
        </p:nvSpPr>
        <p:spPr>
          <a:xfrm>
            <a:off x="658368" y="1325880"/>
            <a:ext cx="3566160" cy="9144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Aman Kumar Maurya  </a:t>
            </a:r>
            <a:pPr indent="0" marL="0">
              <a:buNone/>
            </a:pPr>
            <a:r>
              <a:rPr lang="en-US" sz="1200" dirty="0">
                <a:solidFill>
                  <a:srgbClr val="F59E0B"/>
                </a:solidFill>
                <a:latin typeface="Arial" pitchFamily="34" charset="0"/>
                <a:ea typeface="Arial" pitchFamily="34" charset="-122"/>
                <a:cs typeface="Arial" pitchFamily="34" charset="-120"/>
              </a:rPr>
              <a:t>IIT Madras</a:t>
            </a:r>
            <a:endParaRPr lang="en-US" sz="1500" dirty="0"/>
          </a:p>
          <a:p>
            <a:pPr indent="0" marL="0">
              <a:buNone/>
            </a:pPr>
            <a:r>
              <a:rPr lang="en-US" sz="1150" dirty="0">
                <a:solidFill>
                  <a:srgbClr val="CBD5E1"/>
                </a:solidFill>
                <a:latin typeface="Arial" pitchFamily="34" charset="0"/>
                <a:ea typeface="Arial" pitchFamily="34" charset="-122"/>
                <a:cs typeface="Arial" pitchFamily="34" charset="-120"/>
              </a:rPr>
              <a:t>Data + forecasting — time-series ML, foundation-model pipeline</a:t>
            </a:r>
            <a:endParaRPr lang="en-US" sz="1500" dirty="0"/>
          </a:p>
        </p:txBody>
      </p:sp>
      <p:sp>
        <p:nvSpPr>
          <p:cNvPr id="5" name="Shape 3"/>
          <p:cNvSpPr/>
          <p:nvPr/>
        </p:nvSpPr>
        <p:spPr>
          <a:xfrm>
            <a:off x="4709160" y="1188720"/>
            <a:ext cx="3977640" cy="1188720"/>
          </a:xfrm>
          <a:prstGeom prst="roundRect">
            <a:avLst>
              <a:gd name="adj" fmla="val 6923"/>
            </a:avLst>
          </a:prstGeom>
          <a:solidFill>
            <a:srgbClr val="2E3A45"/>
          </a:solidFill>
          <a:ln/>
        </p:spPr>
      </p:sp>
      <p:sp>
        <p:nvSpPr>
          <p:cNvPr id="6" name="Text 4"/>
          <p:cNvSpPr/>
          <p:nvPr/>
        </p:nvSpPr>
        <p:spPr>
          <a:xfrm>
            <a:off x="4910328" y="1325880"/>
            <a:ext cx="3566160" cy="9144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Sai Nikhil Vukka  </a:t>
            </a:r>
            <a:pPr indent="0" marL="0">
              <a:buNone/>
            </a:pPr>
            <a:r>
              <a:rPr lang="en-US" sz="1200" dirty="0">
                <a:solidFill>
                  <a:srgbClr val="F59E0B"/>
                </a:solidFill>
                <a:latin typeface="Arial" pitchFamily="34" charset="0"/>
                <a:ea typeface="Arial" pitchFamily="34" charset="-122"/>
                <a:cs typeface="Arial" pitchFamily="34" charset="-120"/>
              </a:rPr>
              <a:t>IIT Madras</a:t>
            </a:r>
            <a:endParaRPr lang="en-US" sz="1500" dirty="0"/>
          </a:p>
          <a:p>
            <a:pPr indent="0" marL="0">
              <a:buNone/>
            </a:pPr>
            <a:r>
              <a:rPr lang="en-US" sz="1150" dirty="0">
                <a:solidFill>
                  <a:srgbClr val="CBD5E1"/>
                </a:solidFill>
                <a:latin typeface="Arial" pitchFamily="34" charset="0"/>
                <a:ea typeface="Arial" pitchFamily="34" charset="-122"/>
                <a:cs typeface="Arial" pitchFamily="34" charset="-120"/>
              </a:rPr>
              <a:t>Optimization — critical-path model, what-if engine</a:t>
            </a:r>
            <a:endParaRPr lang="en-US" sz="1500" dirty="0"/>
          </a:p>
        </p:txBody>
      </p:sp>
      <p:sp>
        <p:nvSpPr>
          <p:cNvPr id="7" name="Shape 5"/>
          <p:cNvSpPr/>
          <p:nvPr/>
        </p:nvSpPr>
        <p:spPr>
          <a:xfrm>
            <a:off x="457200" y="2560320"/>
            <a:ext cx="3977640" cy="1188720"/>
          </a:xfrm>
          <a:prstGeom prst="roundRect">
            <a:avLst>
              <a:gd name="adj" fmla="val 6923"/>
            </a:avLst>
          </a:prstGeom>
          <a:solidFill>
            <a:srgbClr val="2E3A45"/>
          </a:solidFill>
          <a:ln/>
        </p:spPr>
      </p:sp>
      <p:sp>
        <p:nvSpPr>
          <p:cNvPr id="8" name="Text 6"/>
          <p:cNvSpPr/>
          <p:nvPr/>
        </p:nvSpPr>
        <p:spPr>
          <a:xfrm>
            <a:off x="658368" y="2697480"/>
            <a:ext cx="3566160" cy="9144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Abhishek Kumar  </a:t>
            </a:r>
            <a:pPr indent="0" marL="0">
              <a:buNone/>
            </a:pPr>
            <a:r>
              <a:rPr lang="en-US" sz="1200" dirty="0">
                <a:solidFill>
                  <a:srgbClr val="F59E0B"/>
                </a:solidFill>
                <a:latin typeface="Arial" pitchFamily="34" charset="0"/>
                <a:ea typeface="Arial" pitchFamily="34" charset="-122"/>
                <a:cs typeface="Arial" pitchFamily="34" charset="-120"/>
              </a:rPr>
              <a:t>IIT Madras</a:t>
            </a:r>
            <a:endParaRPr lang="en-US" sz="1500" dirty="0"/>
          </a:p>
          <a:p>
            <a:pPr indent="0" marL="0">
              <a:buNone/>
            </a:pPr>
            <a:r>
              <a:rPr lang="en-US" sz="1150" dirty="0">
                <a:solidFill>
                  <a:srgbClr val="CBD5E1"/>
                </a:solidFill>
                <a:latin typeface="Arial" pitchFamily="34" charset="0"/>
                <a:ea typeface="Arial" pitchFamily="34" charset="-122"/>
                <a:cs typeface="Arial" pitchFamily="34" charset="-120"/>
              </a:rPr>
              <a:t>Agent + memory — NLP, agentic systems, RAG</a:t>
            </a:r>
            <a:endParaRPr lang="en-US" sz="1500" dirty="0"/>
          </a:p>
        </p:txBody>
      </p:sp>
      <p:sp>
        <p:nvSpPr>
          <p:cNvPr id="9" name="Shape 7"/>
          <p:cNvSpPr/>
          <p:nvPr/>
        </p:nvSpPr>
        <p:spPr>
          <a:xfrm>
            <a:off x="4709160" y="2560320"/>
            <a:ext cx="3977640" cy="1188720"/>
          </a:xfrm>
          <a:prstGeom prst="roundRect">
            <a:avLst>
              <a:gd name="adj" fmla="val 6923"/>
            </a:avLst>
          </a:prstGeom>
          <a:solidFill>
            <a:srgbClr val="2E3A45"/>
          </a:solidFill>
          <a:ln/>
        </p:spPr>
      </p:sp>
      <p:sp>
        <p:nvSpPr>
          <p:cNvPr id="10" name="Text 8"/>
          <p:cNvSpPr/>
          <p:nvPr/>
        </p:nvSpPr>
        <p:spPr>
          <a:xfrm>
            <a:off x="4910328" y="2697480"/>
            <a:ext cx="3566160" cy="9144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Aditya Yash Raj  </a:t>
            </a:r>
            <a:pPr indent="0" marL="0">
              <a:buNone/>
            </a:pPr>
            <a:r>
              <a:rPr lang="en-US" sz="1200" dirty="0">
                <a:solidFill>
                  <a:srgbClr val="F59E0B"/>
                </a:solidFill>
                <a:latin typeface="Arial" pitchFamily="34" charset="0"/>
                <a:ea typeface="Arial" pitchFamily="34" charset="-122"/>
                <a:cs typeface="Arial" pitchFamily="34" charset="-120"/>
              </a:rPr>
              <a:t>IIT Madras</a:t>
            </a:r>
            <a:endParaRPr lang="en-US" sz="1500" dirty="0"/>
          </a:p>
          <a:p>
            <a:pPr indent="0" marL="0">
              <a:buNone/>
            </a:pPr>
            <a:r>
              <a:rPr lang="en-US" sz="1150" dirty="0">
                <a:solidFill>
                  <a:srgbClr val="CBD5E1"/>
                </a:solidFill>
                <a:latin typeface="Arial" pitchFamily="34" charset="0"/>
                <a:ea typeface="Arial" pitchFamily="34" charset="-122"/>
                <a:cs typeface="Arial" pitchFamily="34" charset="-120"/>
              </a:rPr>
              <a:t>Full-stack — dashboard, integration, demo</a:t>
            </a:r>
            <a:endParaRPr lang="en-US" sz="1500" dirty="0"/>
          </a:p>
        </p:txBody>
      </p:sp>
      <p:sp>
        <p:nvSpPr>
          <p:cNvPr id="11" name="Text 9"/>
          <p:cNvSpPr/>
          <p:nvPr/>
        </p:nvSpPr>
        <p:spPr>
          <a:xfrm>
            <a:off x="457200" y="4160520"/>
            <a:ext cx="8229600" cy="6858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By July 31, this loop runs end to end. </a:t>
            </a:r>
            <a:pPr indent="0" marL="0">
              <a:buNone/>
            </a:pPr>
            <a:r>
              <a:rPr lang="en-US" sz="1600" dirty="0">
                <a:solidFill>
                  <a:srgbClr val="CBD5E1"/>
                </a:solidFill>
                <a:latin typeface="Arial" pitchFamily="34" charset="0"/>
                <a:ea typeface="Arial" pitchFamily="34" charset="-122"/>
                <a:cs typeface="Arial" pitchFamily="34" charset="-120"/>
              </a:rPr>
              <a:t>Forecast → evidence → action → memory — for the supply chains that move the world's infrastructure.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ChainSentinel — Kaya AI IIT India Hackathon 2026</dc:title>
  <dc:subject>PptxGenJS Presentation</dc:subject>
  <dc:creator>PptxGenJS</dc:creator>
  <cp:lastModifiedBy>PptxGenJS</cp:lastModifiedBy>
  <cp:revision>1</cp:revision>
  <dcterms:created xsi:type="dcterms:W3CDTF">2026-07-09T19:16:33Z</dcterms:created>
  <dcterms:modified xsi:type="dcterms:W3CDTF">2026-07-09T19:16:33Z</dcterms:modified>
</cp:coreProperties>
</file>